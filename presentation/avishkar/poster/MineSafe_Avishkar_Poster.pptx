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5999928" cy="35999928"/>
  <p:notesSz cx="35999928" cy="3599992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400" b="0" i="0" u="none" strike="noStrike">
                <a:solidFill>
                  <a:srgbClr val="1B2329"/>
                </a:solidFill>
                <a:latin typeface="Calibri"/>
              </a:defRPr>
            </a:pPr>
            <a:r>
              <a:rPr sz="2400" b="0" i="0" u="none" strike="noStrike">
                <a:solidFill>
                  <a:srgbClr val="1B2329"/>
                </a:solidFill>
                <a:latin typeface="Calibri"/>
              </a:rPr>
              <a:t>Coal-mine deaths in India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600" u="none">
                    <a:solidFill>
                      <a:srgbClr val="1B23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49</c:v>
                </c:pt>
                <c:pt idx="2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600" u="none">
                  <a:solidFill>
                    <a:srgbClr val="1B23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400" b="0" i="0" u="none" strike="noStrike">
                <a:solidFill>
                  <a:srgbClr val="1B232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 h&quot;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1B23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Repeater backup</c:v>
                  </c:pt>
                  <c:pt idx="1">
                    <c:v>Core pod</c:v>
                  </c:pt>
                  <c:pt idx="2">
                    <c:v>Helmet pod*</c:v>
                  </c:pt>
                  <c:pt idx="3">
                    <c:v>Boot pod*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21</c:v>
                </c:pt>
                <c:pt idx="2">
                  <c:v>56</c:v>
                </c:pt>
                <c:pt idx="3">
                  <c:v>92</c:v>
                </c:pt>
              </c:numCache>
            </c:numRef>
          </c:val>
        </c:ser>
        <c:dLbls>
          <c:numFmt formatCode="0&quot; h&quot;" sourceLinked="0"/>
          <c:txPr>
            <a:bodyPr/>
            <a:lstStyle/>
            <a:p>
              <a:pPr>
                <a:defRPr b="1" i="0" strike="noStrike" sz="2200" u="none">
                  <a:solidFill>
                    <a:srgbClr val="1B23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B232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Suit 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8710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F7A6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F5F9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A949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Core pod</c:v>
                </c:pt>
                <c:pt idx="1">
                  <c:v>Helmet pod</c:v>
                </c:pt>
                <c:pt idx="2">
                  <c:v>Wrist cuff</c:v>
                </c:pt>
                <c:pt idx="3">
                  <c:v>Boot pod</c:v>
                </c:pt>
                <c:pt idx="4">
                  <c:v>Fabric + sensing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2790</c:v>
                </c:pt>
                <c:pt idx="1">
                  <c:v>2260</c:v>
                </c:pt>
                <c:pt idx="2">
                  <c:v>1480</c:v>
                </c:pt>
                <c:pt idx="3">
                  <c:v>3270</c:v>
                </c:pt>
                <c:pt idx="4">
                  <c:v>3040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27" Type="http://schemas.openxmlformats.org/officeDocument/2006/relationships/chart" Target="/ppt/charts/chart2.xml"/><Relationship Id="rId28" Type="http://schemas.openxmlformats.org/officeDocument/2006/relationships/chart" Target="/ppt/charts/chart3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image" Target="../media/image-1-17.png"/><Relationship Id="rId19" Type="http://schemas.openxmlformats.org/officeDocument/2006/relationships/image" Target="../media/image-1-18.png"/><Relationship Id="rId20" Type="http://schemas.openxmlformats.org/officeDocument/2006/relationships/image" Target="../media/image-1-19.png"/><Relationship Id="rId21" Type="http://schemas.openxmlformats.org/officeDocument/2006/relationships/image" Target="../media/image-1-20.png"/><Relationship Id="rId22" Type="http://schemas.openxmlformats.org/officeDocument/2006/relationships/image" Target="../media/image-1-21.png"/><Relationship Id="rId23" Type="http://schemas.openxmlformats.org/officeDocument/2006/relationships/image" Target="../media/image-1-22.png"/><Relationship Id="rId24" Type="http://schemas.openxmlformats.org/officeDocument/2006/relationships/image" Target="../media/image-1-23.png"/><Relationship Id="rId25" Type="http://schemas.openxmlformats.org/officeDocument/2006/relationships/image" Target="../media/image-1-24.png"/><Relationship Id="rId26" Type="http://schemas.openxmlformats.org/officeDocument/2006/relationships/image" Target="../media/image-1-25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5359848" cy="35359848"/>
          </a:xfrm>
          <a:prstGeom prst="rect">
            <a:avLst/>
          </a:prstGeom>
          <a:solidFill>
            <a:srgbClr val="FFFFFF"/>
          </a:solidFill>
          <a:ln w="38100">
            <a:solidFill>
              <a:srgbClr val="1B23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614880" y="594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No.: </a:t>
            </a:r>
            <a:pPr algn="r" indent="0" marL="0">
              <a:buNone/>
            </a:pPr>
            <a:r>
              <a:rPr lang="en-US" sz="32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685800"/>
            <a:ext cx="2502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Inter-University Avishkar Research Convention:  </a:t>
            </a:r>
            <a:pPr algn="ctr" indent="0" marL="0">
              <a:buNone/>
            </a:pPr>
            <a:r>
              <a:rPr lang="en-US" sz="40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pPr indent="0" marL="0">
              <a:buNone/>
            </a:pPr>
            <a:r>
              <a:rPr lang="en-US" sz="32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Technology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</a:t>
            </a:r>
            <a:pPr algn="r" indent="0" marL="0">
              <a:buNone/>
            </a:pPr>
            <a:r>
              <a:rPr lang="en-US" sz="32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34354008" cy="329184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31720"/>
            <a:ext cx="320040" cy="32918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834640"/>
            <a:ext cx="2286000" cy="2286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389120" y="2560320"/>
            <a:ext cx="1280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MineSafe</a:t>
            </a:r>
            <a:endParaRPr lang="en-US" sz="11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4206240"/>
            <a:ext cx="2148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Safety Gear Compliance, Health Monitoring and Navigation System for Underground Miners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28501848" y="2697480"/>
            <a:ext cx="6126480" cy="731520"/>
          </a:xfrm>
          <a:prstGeom prst="roundRect">
            <a:avLst>
              <a:gd name="adj" fmla="val 50000"/>
            </a:avLst>
          </a:prstGeom>
          <a:solidFill>
            <a:srgbClr val="2C3840"/>
          </a:solidFill>
          <a:ln w="25400">
            <a:solidFill>
              <a:srgbClr val="F2A9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6168" y="28437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416248" y="2697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28501848" y="3611880"/>
            <a:ext cx="6126480" cy="731520"/>
          </a:xfrm>
          <a:prstGeom prst="roundRect">
            <a:avLst>
              <a:gd name="adj" fmla="val 50000"/>
            </a:avLst>
          </a:prstGeom>
          <a:solidFill>
            <a:srgbClr val="2C3840"/>
          </a:solidFill>
          <a:ln w="25400">
            <a:solidFill>
              <a:srgbClr val="F2A9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6168" y="37581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416248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28501848" y="4526280"/>
            <a:ext cx="6126480" cy="731520"/>
          </a:xfrm>
          <a:prstGeom prst="roundRect">
            <a:avLst>
              <a:gd name="adj" fmla="val 50000"/>
            </a:avLst>
          </a:prstGeom>
          <a:solidFill>
            <a:srgbClr val="2C3840"/>
          </a:solidFill>
          <a:ln w="25400">
            <a:solidFill>
              <a:srgbClr val="F2A9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6168" y="467258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9416248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cabling</a:t>
            </a:r>
            <a:endParaRPr lang="en-US" sz="3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23560"/>
            <a:ext cx="34354008" cy="29260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22960" y="5943600"/>
            <a:ext cx="34354008" cy="288036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051560" y="6172200"/>
            <a:ext cx="11064240" cy="722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051560" y="6172200"/>
            <a:ext cx="1106424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51560" y="617220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51560" y="61722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2377440" y="6172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1325880" y="731520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9" name="Shape 21"/>
          <p:cNvSpPr/>
          <p:nvPr/>
        </p:nvSpPr>
        <p:spPr>
          <a:xfrm>
            <a:off x="7406640" y="7406640"/>
            <a:ext cx="128016" cy="1371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680960" y="73609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6000" dirty="0"/>
          </a:p>
        </p:txBody>
      </p:sp>
      <p:sp>
        <p:nvSpPr>
          <p:cNvPr id="31" name="Text 23"/>
          <p:cNvSpPr txBox="1"/>
          <p:nvPr/>
        </p:nvSpPr>
        <p:spPr>
          <a:xfrm>
            <a:off x="7680960" y="8247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deaths, 2023–25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7406640" y="9006840"/>
            <a:ext cx="128016" cy="1371600"/>
          </a:xfrm>
          <a:prstGeom prst="rect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680960" y="8961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7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</a:t>
            </a:r>
            <a:endParaRPr lang="en-US" sz="6000" dirty="0"/>
          </a:p>
        </p:txBody>
      </p:sp>
      <p:sp>
        <p:nvSpPr>
          <p:cNvPr id="34" name="Text 26"/>
          <p:cNvSpPr txBox="1"/>
          <p:nvPr/>
        </p:nvSpPr>
        <p:spPr>
          <a:xfrm>
            <a:off x="7680960" y="9848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accidents</a:t>
            </a:r>
            <a:endParaRPr lang="en-US" sz="2200" dirty="0"/>
          </a:p>
        </p:txBody>
      </p:sp>
      <p:sp>
        <p:nvSpPr>
          <p:cNvPr id="35" name="Shape 27"/>
          <p:cNvSpPr/>
          <p:nvPr/>
        </p:nvSpPr>
        <p:spPr>
          <a:xfrm>
            <a:off x="7406640" y="10607040"/>
            <a:ext cx="128016" cy="13716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680960" y="10561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B23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37" name="Text 29"/>
          <p:cNvSpPr txBox="1"/>
          <p:nvPr/>
        </p:nvSpPr>
        <p:spPr>
          <a:xfrm>
            <a:off x="7680960" y="11448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or phone signal below ground</a:t>
            </a:r>
            <a:endParaRPr lang="en-US" sz="2200" dirty="0"/>
          </a:p>
        </p:txBody>
      </p:sp>
      <p:sp>
        <p:nvSpPr>
          <p:cNvPr id="38" name="Shape 30"/>
          <p:cNvSpPr/>
          <p:nvPr/>
        </p:nvSpPr>
        <p:spPr>
          <a:xfrm>
            <a:off x="1325880" y="12207240"/>
            <a:ext cx="10515600" cy="914400"/>
          </a:xfrm>
          <a:prstGeom prst="rect">
            <a:avLst/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508760" y="12207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rescue: </a:t>
            </a:r>
            <a:pPr indent="0" marL="0">
              <a:buNone/>
            </a:pPr>
            <a:r>
              <a:rPr lang="en-US" sz="23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is underground, where, or whether they are alive.</a:t>
            </a:r>
            <a:endParaRPr lang="en-US" sz="2300" dirty="0"/>
          </a:p>
        </p:txBody>
      </p:sp>
      <p:sp>
        <p:nvSpPr>
          <p:cNvPr id="40" name="Shape 32"/>
          <p:cNvSpPr/>
          <p:nvPr/>
        </p:nvSpPr>
        <p:spPr>
          <a:xfrm>
            <a:off x="12527280" y="6172200"/>
            <a:ext cx="10607040" cy="722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2527280" y="6172200"/>
            <a:ext cx="1060704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2527280" y="617220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2527280" y="61722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4" name="Text 36"/>
          <p:cNvSpPr txBox="1"/>
          <p:nvPr/>
        </p:nvSpPr>
        <p:spPr>
          <a:xfrm>
            <a:off x="13853160" y="6172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5" name="Shape 37"/>
          <p:cNvSpPr/>
          <p:nvPr/>
        </p:nvSpPr>
        <p:spPr>
          <a:xfrm>
            <a:off x="12847320" y="7415784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9344" y="7607808"/>
            <a:ext cx="402336" cy="402336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3853160" y="7360920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compliance</a:t>
            </a:r>
            <a:endParaRPr lang="en-US" sz="2500" dirty="0"/>
          </a:p>
        </p:txBody>
      </p:sp>
      <p:sp>
        <p:nvSpPr>
          <p:cNvPr id="48" name="Text 39"/>
          <p:cNvSpPr txBox="1"/>
          <p:nvPr/>
        </p:nvSpPr>
        <p:spPr>
          <a:xfrm>
            <a:off x="13853160" y="77815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ID card + YOLOv8 photo check at the gate</a:t>
            </a:r>
            <a:endParaRPr lang="en-US" sz="2100" dirty="0"/>
          </a:p>
        </p:txBody>
      </p:sp>
      <p:sp>
        <p:nvSpPr>
          <p:cNvPr id="49" name="Shape 40"/>
          <p:cNvSpPr/>
          <p:nvPr/>
        </p:nvSpPr>
        <p:spPr>
          <a:xfrm>
            <a:off x="12847320" y="8403336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9344" y="8595360"/>
            <a:ext cx="402336" cy="402336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3853160" y="834847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2500" dirty="0"/>
          </a:p>
        </p:txBody>
      </p:sp>
      <p:sp>
        <p:nvSpPr>
          <p:cNvPr id="52" name="Text 42"/>
          <p:cNvSpPr txBox="1"/>
          <p:nvPr/>
        </p:nvSpPr>
        <p:spPr>
          <a:xfrm>
            <a:off x="13853160" y="87690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SpO₂, temperature, falls, no-movement</a:t>
            </a:r>
            <a:endParaRPr lang="en-US" sz="2100" dirty="0"/>
          </a:p>
        </p:txBody>
      </p:sp>
      <p:sp>
        <p:nvSpPr>
          <p:cNvPr id="53" name="Shape 43"/>
          <p:cNvSpPr/>
          <p:nvPr/>
        </p:nvSpPr>
        <p:spPr>
          <a:xfrm>
            <a:off x="12847320" y="9390888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9344" y="9582912"/>
            <a:ext cx="402336" cy="40233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3853160" y="9336024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GPS-free location</a:t>
            </a:r>
            <a:endParaRPr lang="en-US" sz="2500" dirty="0"/>
          </a:p>
        </p:txBody>
      </p:sp>
      <p:sp>
        <p:nvSpPr>
          <p:cNvPr id="56" name="Text 45"/>
          <p:cNvSpPr txBox="1"/>
          <p:nvPr/>
        </p:nvSpPr>
        <p:spPr>
          <a:xfrm>
            <a:off x="13853160" y="97566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+ heading, corrected at every repeater</a:t>
            </a:r>
            <a:endParaRPr lang="en-US" sz="2100" dirty="0"/>
          </a:p>
        </p:txBody>
      </p:sp>
      <p:sp>
        <p:nvSpPr>
          <p:cNvPr id="57" name="Shape 46"/>
          <p:cNvSpPr/>
          <p:nvPr/>
        </p:nvSpPr>
        <p:spPr>
          <a:xfrm>
            <a:off x="12847320" y="10378440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39344" y="10570464"/>
            <a:ext cx="402336" cy="402336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13853160" y="10323576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network</a:t>
            </a:r>
            <a:endParaRPr lang="en-US" sz="2500" dirty="0"/>
          </a:p>
        </p:txBody>
      </p:sp>
      <p:sp>
        <p:nvSpPr>
          <p:cNvPr id="60" name="Text 48"/>
          <p:cNvSpPr txBox="1"/>
          <p:nvPr/>
        </p:nvSpPr>
        <p:spPr>
          <a:xfrm>
            <a:off x="13853160" y="1074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hop-by-hop ESP-NOW, no cabling or internet</a:t>
            </a:r>
            <a:endParaRPr lang="en-US" sz="2100" dirty="0"/>
          </a:p>
        </p:txBody>
      </p:sp>
      <p:sp>
        <p:nvSpPr>
          <p:cNvPr id="61" name="Shape 49"/>
          <p:cNvSpPr/>
          <p:nvPr/>
        </p:nvSpPr>
        <p:spPr>
          <a:xfrm>
            <a:off x="12847320" y="11365992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39344" y="11558016"/>
            <a:ext cx="402336" cy="402336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3853160" y="1131112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and heat</a:t>
            </a:r>
            <a:endParaRPr lang="en-US" sz="2500" dirty="0"/>
          </a:p>
        </p:txBody>
      </p:sp>
      <p:sp>
        <p:nvSpPr>
          <p:cNvPr id="64" name="Text 51"/>
          <p:cNvSpPr txBox="1"/>
          <p:nvPr/>
        </p:nvSpPr>
        <p:spPr>
          <a:xfrm>
            <a:off x="13853160" y="1173175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CH₄, CO, H₂S, wet-bulb at every repeater</a:t>
            </a:r>
            <a:endParaRPr lang="en-US" sz="2100" dirty="0"/>
          </a:p>
        </p:txBody>
      </p:sp>
      <p:sp>
        <p:nvSpPr>
          <p:cNvPr id="65" name="Shape 52"/>
          <p:cNvSpPr/>
          <p:nvPr/>
        </p:nvSpPr>
        <p:spPr>
          <a:xfrm>
            <a:off x="12847320" y="12353544"/>
            <a:ext cx="786384" cy="786384"/>
          </a:xfrm>
          <a:prstGeom prst="ellipse">
            <a:avLst/>
          </a:prstGeom>
          <a:solidFill>
            <a:srgbClr val="FFF6DB"/>
          </a:solidFill>
          <a:ln w="31750">
            <a:solidFill>
              <a:srgbClr val="F2A900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39344" y="12545568"/>
            <a:ext cx="402336" cy="402336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3853160" y="12298680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2500" dirty="0"/>
          </a:p>
        </p:txBody>
      </p:sp>
      <p:sp>
        <p:nvSpPr>
          <p:cNvPr id="68" name="Text 54"/>
          <p:cNvSpPr txBox="1"/>
          <p:nvPr/>
        </p:nvSpPr>
        <p:spPr>
          <a:xfrm>
            <a:off x="13853160" y="127193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₹7,000 / repeater · ≈ ₹12,800 / suit</a:t>
            </a:r>
            <a:endParaRPr lang="en-US" sz="2100" dirty="0"/>
          </a:p>
        </p:txBody>
      </p:sp>
      <p:sp>
        <p:nvSpPr>
          <p:cNvPr id="69" name="Shape 55"/>
          <p:cNvSpPr/>
          <p:nvPr/>
        </p:nvSpPr>
        <p:spPr>
          <a:xfrm>
            <a:off x="23545800" y="6172200"/>
            <a:ext cx="11402568" cy="722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23545800" y="6172200"/>
            <a:ext cx="11402568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23545800" y="617220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23545800" y="61722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73" name="Text 59"/>
          <p:cNvSpPr txBox="1"/>
          <p:nvPr/>
        </p:nvSpPr>
        <p:spPr>
          <a:xfrm>
            <a:off x="24871680" y="6172200"/>
            <a:ext cx="9939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3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820120" y="7360920"/>
          <a:ext cx="10853928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960120"/>
                <a:gridCol w="1097280"/>
                <a:gridCol w="914400"/>
                <a:gridCol w="1600200"/>
                <a:gridCol w="914400"/>
                <a:gridCol w="1298448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MineGuard 360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MineARC GuardIAN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Leantegra UWB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Rajant Health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SmartKavach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36Zero + Bodytrak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E87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MineSafe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₹12.8k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</a:tr>
            </a:tbl>
          </a:graphicData>
        </a:graphic>
      </p:graphicFrame>
      <p:sp>
        <p:nvSpPr>
          <p:cNvPr id="75" name="Text 60"/>
          <p:cNvSpPr txBox="1"/>
          <p:nvPr/>
        </p:nvSpPr>
        <p:spPr>
          <a:xfrm>
            <a:off x="23820120" y="12344400"/>
            <a:ext cx="10853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pPr indent="0" marL="0">
              <a:buNone/>
            </a:pPr>
            <a:r>
              <a:rPr lang="en-US" sz="22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low-cost system that combines kit check, vitals and GPS-free location in one self-healing network.</a:t>
            </a:r>
            <a:endParaRPr lang="en-US" sz="2200" dirty="0"/>
          </a:p>
        </p:txBody>
      </p:sp>
      <p:sp>
        <p:nvSpPr>
          <p:cNvPr id="76" name="Shape 61"/>
          <p:cNvSpPr/>
          <p:nvPr/>
        </p:nvSpPr>
        <p:spPr>
          <a:xfrm>
            <a:off x="1051560" y="13807440"/>
            <a:ext cx="22402800" cy="832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1051560" y="13807440"/>
            <a:ext cx="2240280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1051560" y="138074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9" name="Text 64"/>
          <p:cNvSpPr txBox="1"/>
          <p:nvPr/>
        </p:nvSpPr>
        <p:spPr>
          <a:xfrm>
            <a:off x="1051560" y="138074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80" name="Text 65"/>
          <p:cNvSpPr txBox="1"/>
          <p:nvPr/>
        </p:nvSpPr>
        <p:spPr>
          <a:xfrm>
            <a:off x="2377440" y="13807440"/>
            <a:ext cx="2093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ARCHITECTURE AND DATA FLOW</a:t>
            </a:r>
            <a:endParaRPr lang="en-US" sz="3200" dirty="0"/>
          </a:p>
        </p:txBody>
      </p:sp>
      <p:sp>
        <p:nvSpPr>
          <p:cNvPr id="81" name="Shape 66"/>
          <p:cNvSpPr/>
          <p:nvPr/>
        </p:nvSpPr>
        <p:spPr>
          <a:xfrm>
            <a:off x="1417320" y="1540764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FFF6DB"/>
          </a:solidFill>
          <a:ln w="38100">
            <a:solidFill>
              <a:srgbClr val="F2A900"/>
            </a:solidFill>
            <a:prstDash val="solid"/>
          </a:ln>
        </p:spPr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8920" y="15544800"/>
            <a:ext cx="548640" cy="548640"/>
          </a:xfrm>
          <a:prstGeom prst="rect">
            <a:avLst/>
          </a:prstGeom>
        </p:spPr>
      </p:pic>
      <p:sp>
        <p:nvSpPr>
          <p:cNvPr id="83" name="Text 67"/>
          <p:cNvSpPr txBox="1"/>
          <p:nvPr/>
        </p:nvSpPr>
        <p:spPr>
          <a:xfrm>
            <a:off x="1417320" y="16139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suit</a:t>
            </a:r>
            <a:endParaRPr lang="en-US" sz="2500" dirty="0"/>
          </a:p>
        </p:txBody>
      </p:sp>
      <p:sp>
        <p:nvSpPr>
          <p:cNvPr id="84" name="Text 68"/>
          <p:cNvSpPr txBox="1"/>
          <p:nvPr/>
        </p:nvSpPr>
        <p:spPr>
          <a:xfrm>
            <a:off x="1527048" y="1664208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pods: vitals, fall, kit, steps</a:t>
            </a:r>
            <a:endParaRPr lang="en-US" sz="1900" dirty="0"/>
          </a:p>
        </p:txBody>
      </p:sp>
      <p:sp>
        <p:nvSpPr>
          <p:cNvPr id="85" name="Shape 69"/>
          <p:cNvSpPr/>
          <p:nvPr/>
        </p:nvSpPr>
        <p:spPr>
          <a:xfrm>
            <a:off x="5513832" y="1540764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392" y="15544800"/>
            <a:ext cx="548640" cy="548640"/>
          </a:xfrm>
          <a:prstGeom prst="rect">
            <a:avLst/>
          </a:prstGeom>
        </p:spPr>
      </p:pic>
      <p:sp>
        <p:nvSpPr>
          <p:cNvPr id="87" name="Text 70"/>
          <p:cNvSpPr txBox="1"/>
          <p:nvPr/>
        </p:nvSpPr>
        <p:spPr>
          <a:xfrm>
            <a:off x="5513832" y="1613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REP-03</a:t>
            </a:r>
            <a:endParaRPr lang="en-US" sz="2500" dirty="0"/>
          </a:p>
        </p:txBody>
      </p:sp>
      <p:sp>
        <p:nvSpPr>
          <p:cNvPr id="88" name="Text 71"/>
          <p:cNvSpPr txBox="1"/>
          <p:nvPr/>
        </p:nvSpPr>
        <p:spPr>
          <a:xfrm>
            <a:off x="5623560" y="1664208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air · exit sign</a:t>
            </a:r>
            <a:endParaRPr lang="en-US" sz="1900" dirty="0"/>
          </a:p>
        </p:txBody>
      </p:sp>
      <p:sp>
        <p:nvSpPr>
          <p:cNvPr id="89" name="Shape 72"/>
          <p:cNvSpPr/>
          <p:nvPr/>
        </p:nvSpPr>
        <p:spPr>
          <a:xfrm>
            <a:off x="8970264" y="1540764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1824" y="15544800"/>
            <a:ext cx="548640" cy="548640"/>
          </a:xfrm>
          <a:prstGeom prst="rect">
            <a:avLst/>
          </a:prstGeom>
        </p:spPr>
      </p:pic>
      <p:sp>
        <p:nvSpPr>
          <p:cNvPr id="91" name="Text 73"/>
          <p:cNvSpPr txBox="1"/>
          <p:nvPr/>
        </p:nvSpPr>
        <p:spPr>
          <a:xfrm>
            <a:off x="8970264" y="1613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REP-02</a:t>
            </a:r>
            <a:endParaRPr lang="en-US" sz="2500" dirty="0"/>
          </a:p>
        </p:txBody>
      </p:sp>
      <p:sp>
        <p:nvSpPr>
          <p:cNvPr id="92" name="Text 74"/>
          <p:cNvSpPr txBox="1"/>
          <p:nvPr/>
        </p:nvSpPr>
        <p:spPr>
          <a:xfrm>
            <a:off x="9079992" y="1664208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air · exit sign</a:t>
            </a:r>
            <a:endParaRPr lang="en-US" sz="1900" dirty="0"/>
          </a:p>
        </p:txBody>
      </p:sp>
      <p:sp>
        <p:nvSpPr>
          <p:cNvPr id="93" name="Shape 75"/>
          <p:cNvSpPr/>
          <p:nvPr/>
        </p:nvSpPr>
        <p:spPr>
          <a:xfrm>
            <a:off x="12426696" y="1540764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23976" y="15544800"/>
            <a:ext cx="548640" cy="548640"/>
          </a:xfrm>
          <a:prstGeom prst="rect">
            <a:avLst/>
          </a:prstGeom>
        </p:spPr>
      </p:pic>
      <p:sp>
        <p:nvSpPr>
          <p:cNvPr id="95" name="Text 76"/>
          <p:cNvSpPr txBox="1"/>
          <p:nvPr/>
        </p:nvSpPr>
        <p:spPr>
          <a:xfrm>
            <a:off x="12426696" y="1613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REP-01</a:t>
            </a:r>
            <a:endParaRPr lang="en-US" sz="2500" dirty="0"/>
          </a:p>
        </p:txBody>
      </p:sp>
      <p:sp>
        <p:nvSpPr>
          <p:cNvPr id="96" name="Text 77"/>
          <p:cNvSpPr txBox="1"/>
          <p:nvPr/>
        </p:nvSpPr>
        <p:spPr>
          <a:xfrm>
            <a:off x="12536424" y="166420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repeater</a:t>
            </a:r>
            <a:endParaRPr lang="en-US" sz="1900" dirty="0"/>
          </a:p>
        </p:txBody>
      </p:sp>
      <p:sp>
        <p:nvSpPr>
          <p:cNvPr id="97" name="Shape 78"/>
          <p:cNvSpPr/>
          <p:nvPr/>
        </p:nvSpPr>
        <p:spPr>
          <a:xfrm>
            <a:off x="15974568" y="1540764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FFF6DB"/>
          </a:solidFill>
          <a:ln w="38100">
            <a:solidFill>
              <a:srgbClr val="F2A900"/>
            </a:solidFill>
            <a:prstDash val="solid"/>
          </a:ln>
        </p:spPr>
      </p:sp>
      <p:pic>
        <p:nvPicPr>
          <p:cNvPr id="98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391888" y="15544800"/>
            <a:ext cx="548640" cy="548640"/>
          </a:xfrm>
          <a:prstGeom prst="rect">
            <a:avLst/>
          </a:prstGeom>
        </p:spPr>
      </p:pic>
      <p:sp>
        <p:nvSpPr>
          <p:cNvPr id="99" name="Text 79"/>
          <p:cNvSpPr txBox="1"/>
          <p:nvPr/>
        </p:nvSpPr>
        <p:spPr>
          <a:xfrm>
            <a:off x="15974568" y="16139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laptop</a:t>
            </a:r>
            <a:endParaRPr lang="en-US" sz="2500" dirty="0"/>
          </a:p>
        </p:txBody>
      </p:sp>
      <p:sp>
        <p:nvSpPr>
          <p:cNvPr id="100" name="Text 80"/>
          <p:cNvSpPr txBox="1"/>
          <p:nvPr/>
        </p:nvSpPr>
        <p:spPr>
          <a:xfrm>
            <a:off x="16084296" y="1664208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AI kit check · evacuation planner</a:t>
            </a:r>
            <a:endParaRPr lang="en-US" sz="1900" dirty="0"/>
          </a:p>
        </p:txBody>
      </p:sp>
      <p:sp>
        <p:nvSpPr>
          <p:cNvPr id="101" name="Shape 81"/>
          <p:cNvSpPr/>
          <p:nvPr/>
        </p:nvSpPr>
        <p:spPr>
          <a:xfrm>
            <a:off x="20162520" y="15407640"/>
            <a:ext cx="292608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351240" y="15544800"/>
            <a:ext cx="548640" cy="548640"/>
          </a:xfrm>
          <a:prstGeom prst="rect">
            <a:avLst/>
          </a:prstGeom>
        </p:spPr>
      </p:pic>
      <p:sp>
        <p:nvSpPr>
          <p:cNvPr id="103" name="Text 82"/>
          <p:cNvSpPr txBox="1"/>
          <p:nvPr/>
        </p:nvSpPr>
        <p:spPr>
          <a:xfrm>
            <a:off x="20162520" y="1613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control app</a:t>
            </a:r>
            <a:endParaRPr lang="en-US" sz="2500" dirty="0"/>
          </a:p>
        </p:txBody>
      </p:sp>
      <p:sp>
        <p:nvSpPr>
          <p:cNvPr id="104" name="Text 83"/>
          <p:cNvSpPr txBox="1"/>
          <p:nvPr/>
        </p:nvSpPr>
        <p:spPr>
          <a:xfrm>
            <a:off x="20272248" y="1664208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phone, live</a:t>
            </a:r>
            <a:endParaRPr lang="en-US" sz="1900" dirty="0"/>
          </a:p>
        </p:txBody>
      </p:sp>
      <p:sp>
        <p:nvSpPr>
          <p:cNvPr id="105" name="Shape 84"/>
          <p:cNvSpPr/>
          <p:nvPr/>
        </p:nvSpPr>
        <p:spPr>
          <a:xfrm>
            <a:off x="4754880" y="16459200"/>
            <a:ext cx="713232" cy="0"/>
          </a:xfrm>
          <a:prstGeom prst="line">
            <a:avLst/>
          </a:prstGeom>
          <a:noFill/>
          <a:ln w="508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06" name="Text 85"/>
          <p:cNvSpPr txBox="1"/>
          <p:nvPr/>
        </p:nvSpPr>
        <p:spPr>
          <a:xfrm>
            <a:off x="4343400" y="1495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1700" dirty="0"/>
          </a:p>
        </p:txBody>
      </p:sp>
      <p:sp>
        <p:nvSpPr>
          <p:cNvPr id="107" name="Shape 86"/>
          <p:cNvSpPr/>
          <p:nvPr/>
        </p:nvSpPr>
        <p:spPr>
          <a:xfrm>
            <a:off x="8211312" y="16459200"/>
            <a:ext cx="713232" cy="0"/>
          </a:xfrm>
          <a:prstGeom prst="line">
            <a:avLst/>
          </a:prstGeom>
          <a:noFill/>
          <a:ln w="508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08" name="Text 87"/>
          <p:cNvSpPr txBox="1"/>
          <p:nvPr/>
        </p:nvSpPr>
        <p:spPr>
          <a:xfrm>
            <a:off x="7799832" y="1495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1700" dirty="0"/>
          </a:p>
        </p:txBody>
      </p:sp>
      <p:sp>
        <p:nvSpPr>
          <p:cNvPr id="109" name="Shape 88"/>
          <p:cNvSpPr/>
          <p:nvPr/>
        </p:nvSpPr>
        <p:spPr>
          <a:xfrm>
            <a:off x="11667744" y="16459200"/>
            <a:ext cx="713232" cy="0"/>
          </a:xfrm>
          <a:prstGeom prst="line">
            <a:avLst/>
          </a:prstGeom>
          <a:noFill/>
          <a:ln w="508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10" name="Text 89"/>
          <p:cNvSpPr txBox="1"/>
          <p:nvPr/>
        </p:nvSpPr>
        <p:spPr>
          <a:xfrm>
            <a:off x="11256264" y="1495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1700" dirty="0"/>
          </a:p>
        </p:txBody>
      </p:sp>
      <p:sp>
        <p:nvSpPr>
          <p:cNvPr id="111" name="Shape 90"/>
          <p:cNvSpPr/>
          <p:nvPr/>
        </p:nvSpPr>
        <p:spPr>
          <a:xfrm>
            <a:off x="15215616" y="16459200"/>
            <a:ext cx="713232" cy="0"/>
          </a:xfrm>
          <a:prstGeom prst="line">
            <a:avLst/>
          </a:prstGeom>
          <a:noFill/>
          <a:ln w="508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12" name="Text 91"/>
          <p:cNvSpPr txBox="1"/>
          <p:nvPr/>
        </p:nvSpPr>
        <p:spPr>
          <a:xfrm>
            <a:off x="14804136" y="1495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700" dirty="0"/>
          </a:p>
        </p:txBody>
      </p:sp>
      <p:sp>
        <p:nvSpPr>
          <p:cNvPr id="113" name="Shape 92"/>
          <p:cNvSpPr/>
          <p:nvPr/>
        </p:nvSpPr>
        <p:spPr>
          <a:xfrm>
            <a:off x="19403568" y="16459200"/>
            <a:ext cx="713232" cy="0"/>
          </a:xfrm>
          <a:prstGeom prst="line">
            <a:avLst/>
          </a:prstGeom>
          <a:noFill/>
          <a:ln w="50800">
            <a:solidFill>
              <a:srgbClr val="E8710A"/>
            </a:solidFill>
            <a:prstDash val="solid"/>
            <a:tailEnd type="triangle"/>
          </a:ln>
        </p:spPr>
      </p:sp>
      <p:sp>
        <p:nvSpPr>
          <p:cNvPr id="114" name="Text 93"/>
          <p:cNvSpPr txBox="1"/>
          <p:nvPr/>
        </p:nvSpPr>
        <p:spPr>
          <a:xfrm>
            <a:off x="18992088" y="14950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700" dirty="0"/>
          </a:p>
        </p:txBody>
      </p:sp>
      <p:sp>
        <p:nvSpPr>
          <p:cNvPr id="115" name="Shape 94"/>
          <p:cNvSpPr/>
          <p:nvPr/>
        </p:nvSpPr>
        <p:spPr>
          <a:xfrm flipH="1">
            <a:off x="3063240" y="17922240"/>
            <a:ext cx="14557248" cy="0"/>
          </a:xfrm>
          <a:prstGeom prst="line">
            <a:avLst/>
          </a:prstGeom>
          <a:noFill/>
          <a:ln w="38100">
            <a:solidFill>
              <a:srgbClr val="2F5F9E"/>
            </a:solidFill>
            <a:prstDash val="dash"/>
            <a:tailEnd type="triangle"/>
          </a:ln>
        </p:spPr>
      </p:sp>
      <p:sp>
        <p:nvSpPr>
          <p:cNvPr id="116" name="Shape 95"/>
          <p:cNvSpPr/>
          <p:nvPr/>
        </p:nvSpPr>
        <p:spPr>
          <a:xfrm>
            <a:off x="17620488" y="17510760"/>
            <a:ext cx="0" cy="411480"/>
          </a:xfrm>
          <a:prstGeom prst="line">
            <a:avLst/>
          </a:prstGeom>
          <a:noFill/>
          <a:ln w="38100">
            <a:solidFill>
              <a:srgbClr val="2F5F9E"/>
            </a:solidFill>
            <a:prstDash val="dash"/>
          </a:ln>
        </p:spPr>
      </p:sp>
      <p:sp>
        <p:nvSpPr>
          <p:cNvPr id="117" name="Shape 96"/>
          <p:cNvSpPr/>
          <p:nvPr/>
        </p:nvSpPr>
        <p:spPr>
          <a:xfrm flipV="1">
            <a:off x="3063240" y="17529048"/>
            <a:ext cx="0" cy="393192"/>
          </a:xfrm>
          <a:prstGeom prst="line">
            <a:avLst/>
          </a:prstGeom>
          <a:noFill/>
          <a:ln w="38100">
            <a:solidFill>
              <a:srgbClr val="2F5F9E"/>
            </a:solidFill>
            <a:prstDash val="dash"/>
            <a:tailEnd type="triangle"/>
          </a:ln>
        </p:spPr>
      </p:sp>
      <p:sp>
        <p:nvSpPr>
          <p:cNvPr id="118" name="Text 97"/>
          <p:cNvSpPr txBox="1"/>
          <p:nvPr/>
        </p:nvSpPr>
        <p:spPr>
          <a:xfrm>
            <a:off x="3429000" y="1801368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evacuation routes return down the same chain · 1 packet / s per worker · data stays on site, no cloud</a:t>
            </a:r>
            <a:endParaRPr lang="en-US" sz="1900" dirty="0"/>
          </a:p>
        </p:txBody>
      </p:sp>
      <p:sp>
        <p:nvSpPr>
          <p:cNvPr id="119" name="Text 98"/>
          <p:cNvSpPr txBox="1"/>
          <p:nvPr/>
        </p:nvSpPr>
        <p:spPr>
          <a:xfrm>
            <a:off x="1417320" y="18790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300" kern="0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WORKER'S SHIFT</a:t>
            </a:r>
            <a:endParaRPr lang="en-US" sz="2100" dirty="0"/>
          </a:p>
        </p:txBody>
      </p:sp>
      <p:sp>
        <p:nvSpPr>
          <p:cNvPr id="120" name="Shape 99"/>
          <p:cNvSpPr/>
          <p:nvPr/>
        </p:nvSpPr>
        <p:spPr>
          <a:xfrm>
            <a:off x="1417320" y="19339560"/>
            <a:ext cx="2331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21" name="Text 100"/>
          <p:cNvSpPr txBox="1"/>
          <p:nvPr/>
        </p:nvSpPr>
        <p:spPr>
          <a:xfrm>
            <a:off x="1417320" y="19504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up</a:t>
            </a:r>
            <a:endParaRPr lang="en-US" sz="2300" dirty="0"/>
          </a:p>
        </p:txBody>
      </p:sp>
      <p:sp>
        <p:nvSpPr>
          <p:cNvPr id="122" name="Text 101"/>
          <p:cNvSpPr txBox="1"/>
          <p:nvPr/>
        </p:nvSpPr>
        <p:spPr>
          <a:xfrm>
            <a:off x="1508760" y="19979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self-checks</a:t>
            </a:r>
            <a:endParaRPr lang="en-US" sz="1800" dirty="0"/>
          </a:p>
        </p:txBody>
      </p:sp>
      <p:sp>
        <p:nvSpPr>
          <p:cNvPr id="123" name="Shape 102"/>
          <p:cNvSpPr/>
          <p:nvPr/>
        </p:nvSpPr>
        <p:spPr>
          <a:xfrm>
            <a:off x="4442460" y="19339560"/>
            <a:ext cx="27889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24" name="Text 103"/>
          <p:cNvSpPr txBox="1"/>
          <p:nvPr/>
        </p:nvSpPr>
        <p:spPr>
          <a:xfrm>
            <a:off x="4442460" y="195041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check</a:t>
            </a:r>
            <a:endParaRPr lang="en-US" sz="2300" dirty="0"/>
          </a:p>
        </p:txBody>
      </p:sp>
      <p:sp>
        <p:nvSpPr>
          <p:cNvPr id="125" name="Text 104"/>
          <p:cNvSpPr txBox="1"/>
          <p:nvPr/>
        </p:nvSpPr>
        <p:spPr>
          <a:xfrm>
            <a:off x="4533900" y="19979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 + YOLOv8 photo</a:t>
            </a:r>
            <a:endParaRPr lang="en-US" sz="1800" dirty="0"/>
          </a:p>
        </p:txBody>
      </p:sp>
      <p:sp>
        <p:nvSpPr>
          <p:cNvPr id="126" name="Shape 105"/>
          <p:cNvSpPr/>
          <p:nvPr/>
        </p:nvSpPr>
        <p:spPr>
          <a:xfrm>
            <a:off x="7924800" y="19248120"/>
            <a:ext cx="2011680" cy="1691640"/>
          </a:xfrm>
          <a:prstGeom prst="diamond">
            <a:avLst/>
          </a:prstGeom>
          <a:solidFill>
            <a:srgbClr val="F2A900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27" name="Text 106"/>
          <p:cNvSpPr txBox="1"/>
          <p:nvPr/>
        </p:nvSpPr>
        <p:spPr>
          <a:xfrm>
            <a:off x="7924800" y="192481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OK?</a:t>
            </a:r>
            <a:endParaRPr lang="en-US" sz="2200" dirty="0"/>
          </a:p>
        </p:txBody>
      </p:sp>
      <p:sp>
        <p:nvSpPr>
          <p:cNvPr id="128" name="Shape 107"/>
          <p:cNvSpPr/>
          <p:nvPr/>
        </p:nvSpPr>
        <p:spPr>
          <a:xfrm>
            <a:off x="10629900" y="19339560"/>
            <a:ext cx="30175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29" name="Text 108"/>
          <p:cNvSpPr txBox="1"/>
          <p:nvPr/>
        </p:nvSpPr>
        <p:spPr>
          <a:xfrm>
            <a:off x="10629900" y="19504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</a:t>
            </a:r>
            <a:endParaRPr lang="en-US" sz="2300" dirty="0"/>
          </a:p>
        </p:txBody>
      </p:sp>
      <p:sp>
        <p:nvSpPr>
          <p:cNvPr id="130" name="Text 109"/>
          <p:cNvSpPr txBox="1"/>
          <p:nvPr/>
        </p:nvSpPr>
        <p:spPr>
          <a:xfrm>
            <a:off x="10721340" y="19979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· steps · gas, every 1 s</a:t>
            </a:r>
            <a:endParaRPr lang="en-US" sz="1800" dirty="0"/>
          </a:p>
        </p:txBody>
      </p:sp>
      <p:sp>
        <p:nvSpPr>
          <p:cNvPr id="131" name="Shape 110"/>
          <p:cNvSpPr/>
          <p:nvPr/>
        </p:nvSpPr>
        <p:spPr>
          <a:xfrm>
            <a:off x="14340840" y="19248120"/>
            <a:ext cx="2011680" cy="1691640"/>
          </a:xfrm>
          <a:prstGeom prst="diamond">
            <a:avLst/>
          </a:prstGeom>
          <a:solidFill>
            <a:srgbClr val="F2A900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32" name="Text 111"/>
          <p:cNvSpPr txBox="1"/>
          <p:nvPr/>
        </p:nvSpPr>
        <p:spPr>
          <a:xfrm>
            <a:off x="14340840" y="1924812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Alarm?</a:t>
            </a:r>
            <a:endParaRPr lang="en-US" sz="2200" dirty="0"/>
          </a:p>
        </p:txBody>
      </p:sp>
      <p:sp>
        <p:nvSpPr>
          <p:cNvPr id="133" name="Shape 112"/>
          <p:cNvSpPr/>
          <p:nvPr/>
        </p:nvSpPr>
        <p:spPr>
          <a:xfrm>
            <a:off x="17045940" y="19339560"/>
            <a:ext cx="3017520" cy="1508760"/>
          </a:xfrm>
          <a:prstGeom prst="roundRect">
            <a:avLst>
              <a:gd name="adj" fmla="val 9091"/>
            </a:avLst>
          </a:prstGeom>
          <a:solidFill>
            <a:srgbClr val="FBE3E6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34" name="Text 113"/>
          <p:cNvSpPr txBox="1"/>
          <p:nvPr/>
        </p:nvSpPr>
        <p:spPr>
          <a:xfrm>
            <a:off x="17045940" y="19504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route</a:t>
            </a:r>
            <a:endParaRPr lang="en-US" sz="2300" dirty="0"/>
          </a:p>
        </p:txBody>
      </p:sp>
      <p:sp>
        <p:nvSpPr>
          <p:cNvPr id="135" name="Text 114"/>
          <p:cNvSpPr txBox="1"/>
          <p:nvPr/>
        </p:nvSpPr>
        <p:spPr>
          <a:xfrm>
            <a:off x="17137380" y="19979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signs, cuff, helmet voice</a:t>
            </a:r>
            <a:endParaRPr lang="en-US" sz="1800" dirty="0"/>
          </a:p>
        </p:txBody>
      </p:sp>
      <p:sp>
        <p:nvSpPr>
          <p:cNvPr id="136" name="Shape 115"/>
          <p:cNvSpPr/>
          <p:nvPr/>
        </p:nvSpPr>
        <p:spPr>
          <a:xfrm>
            <a:off x="20756880" y="19339560"/>
            <a:ext cx="23317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137" name="Text 116"/>
          <p:cNvSpPr txBox="1"/>
          <p:nvPr/>
        </p:nvSpPr>
        <p:spPr>
          <a:xfrm>
            <a:off x="20756880" y="19504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scan</a:t>
            </a:r>
            <a:endParaRPr lang="en-US" sz="2300" dirty="0"/>
          </a:p>
        </p:txBody>
      </p:sp>
      <p:sp>
        <p:nvSpPr>
          <p:cNvPr id="138" name="Text 117"/>
          <p:cNvSpPr txBox="1"/>
          <p:nvPr/>
        </p:nvSpPr>
        <p:spPr>
          <a:xfrm>
            <a:off x="20848320" y="19979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charges</a:t>
            </a:r>
            <a:endParaRPr lang="en-US" sz="1800" dirty="0"/>
          </a:p>
        </p:txBody>
      </p:sp>
      <p:sp>
        <p:nvSpPr>
          <p:cNvPr id="139" name="Shape 118"/>
          <p:cNvSpPr/>
          <p:nvPr/>
        </p:nvSpPr>
        <p:spPr>
          <a:xfrm>
            <a:off x="377647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0" name="Shape 119"/>
          <p:cNvSpPr/>
          <p:nvPr/>
        </p:nvSpPr>
        <p:spPr>
          <a:xfrm>
            <a:off x="725881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1" name="Shape 120"/>
          <p:cNvSpPr/>
          <p:nvPr/>
        </p:nvSpPr>
        <p:spPr>
          <a:xfrm>
            <a:off x="996391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2" name="Shape 121"/>
          <p:cNvSpPr/>
          <p:nvPr/>
        </p:nvSpPr>
        <p:spPr>
          <a:xfrm>
            <a:off x="1367485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3" name="Shape 122"/>
          <p:cNvSpPr/>
          <p:nvPr/>
        </p:nvSpPr>
        <p:spPr>
          <a:xfrm>
            <a:off x="1637995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4" name="Shape 123"/>
          <p:cNvSpPr/>
          <p:nvPr/>
        </p:nvSpPr>
        <p:spPr>
          <a:xfrm>
            <a:off x="20090892" y="20093940"/>
            <a:ext cx="638556" cy="0"/>
          </a:xfrm>
          <a:prstGeom prst="line">
            <a:avLst/>
          </a:prstGeom>
          <a:noFill/>
          <a:ln w="3810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145" name="Text 124"/>
          <p:cNvSpPr txBox="1"/>
          <p:nvPr/>
        </p:nvSpPr>
        <p:spPr>
          <a:xfrm>
            <a:off x="9936480" y="19568160"/>
            <a:ext cx="69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700" dirty="0"/>
          </a:p>
        </p:txBody>
      </p:sp>
      <p:sp>
        <p:nvSpPr>
          <p:cNvPr id="146" name="Text 125"/>
          <p:cNvSpPr txBox="1"/>
          <p:nvPr/>
        </p:nvSpPr>
        <p:spPr>
          <a:xfrm>
            <a:off x="16352520" y="19568160"/>
            <a:ext cx="69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700" dirty="0"/>
          </a:p>
        </p:txBody>
      </p:sp>
      <p:sp>
        <p:nvSpPr>
          <p:cNvPr id="147" name="Shape 126"/>
          <p:cNvSpPr/>
          <p:nvPr/>
        </p:nvSpPr>
        <p:spPr>
          <a:xfrm>
            <a:off x="8930640" y="20939760"/>
            <a:ext cx="0" cy="41148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148" name="Shape 127"/>
          <p:cNvSpPr/>
          <p:nvPr/>
        </p:nvSpPr>
        <p:spPr>
          <a:xfrm flipH="1">
            <a:off x="2583180" y="21351240"/>
            <a:ext cx="634746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149" name="Shape 128"/>
          <p:cNvSpPr/>
          <p:nvPr/>
        </p:nvSpPr>
        <p:spPr>
          <a:xfrm flipV="1">
            <a:off x="2583180" y="20875752"/>
            <a:ext cx="0" cy="475488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0" name="Text 129"/>
          <p:cNvSpPr txBox="1"/>
          <p:nvPr/>
        </p:nvSpPr>
        <p:spPr>
          <a:xfrm>
            <a:off x="2766060" y="21396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rejected, fix kit</a:t>
            </a:r>
            <a:endParaRPr lang="en-US" sz="1800" dirty="0"/>
          </a:p>
        </p:txBody>
      </p:sp>
      <p:sp>
        <p:nvSpPr>
          <p:cNvPr id="151" name="Shape 130"/>
          <p:cNvSpPr/>
          <p:nvPr/>
        </p:nvSpPr>
        <p:spPr>
          <a:xfrm>
            <a:off x="15346680" y="20939760"/>
            <a:ext cx="0" cy="41148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52" name="Shape 131"/>
          <p:cNvSpPr/>
          <p:nvPr/>
        </p:nvSpPr>
        <p:spPr>
          <a:xfrm flipH="1">
            <a:off x="12138660" y="21351240"/>
            <a:ext cx="3208020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53" name="Shape 132"/>
          <p:cNvSpPr/>
          <p:nvPr/>
        </p:nvSpPr>
        <p:spPr>
          <a:xfrm flipV="1">
            <a:off x="12138660" y="20875752"/>
            <a:ext cx="0" cy="475488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54" name="Text 133"/>
          <p:cNvSpPr txBox="1"/>
          <p:nvPr/>
        </p:nvSpPr>
        <p:spPr>
          <a:xfrm>
            <a:off x="12321540" y="21396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keep monitoring</a:t>
            </a:r>
            <a:endParaRPr lang="en-US" sz="1800" dirty="0"/>
          </a:p>
        </p:txBody>
      </p:sp>
      <p:sp>
        <p:nvSpPr>
          <p:cNvPr id="155" name="Shape 134"/>
          <p:cNvSpPr/>
          <p:nvPr/>
        </p:nvSpPr>
        <p:spPr>
          <a:xfrm>
            <a:off x="23865840" y="13807440"/>
            <a:ext cx="11082528" cy="832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156" name="Shape 135"/>
          <p:cNvSpPr/>
          <p:nvPr/>
        </p:nvSpPr>
        <p:spPr>
          <a:xfrm>
            <a:off x="23865840" y="13807440"/>
            <a:ext cx="11082528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157" name="Shape 136"/>
          <p:cNvSpPr/>
          <p:nvPr/>
        </p:nvSpPr>
        <p:spPr>
          <a:xfrm>
            <a:off x="23865840" y="138074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8" name="Text 137"/>
          <p:cNvSpPr txBox="1"/>
          <p:nvPr/>
        </p:nvSpPr>
        <p:spPr>
          <a:xfrm>
            <a:off x="23865840" y="138074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159" name="Text 138"/>
          <p:cNvSpPr txBox="1"/>
          <p:nvPr/>
        </p:nvSpPr>
        <p:spPr>
          <a:xfrm>
            <a:off x="25191720" y="13807440"/>
            <a:ext cx="9619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SMART SUIT</a:t>
            </a:r>
            <a:endParaRPr lang="en-US" sz="3200" dirty="0"/>
          </a:p>
        </p:txBody>
      </p:sp>
      <p:pic>
        <p:nvPicPr>
          <p:cNvPr id="160" name="Image 17" descr="Smart suit 3D render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35791" y="14950440"/>
            <a:ext cx="2142627" cy="6492240"/>
          </a:xfrm>
          <a:prstGeom prst="rect">
            <a:avLst/>
          </a:prstGeom>
        </p:spPr>
      </p:pic>
      <p:sp>
        <p:nvSpPr>
          <p:cNvPr id="161" name="Text 139"/>
          <p:cNvSpPr txBox="1"/>
          <p:nvPr/>
        </p:nvSpPr>
        <p:spPr>
          <a:xfrm>
            <a:off x="24140160" y="1508760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pod</a:t>
            </a:r>
            <a:endParaRPr lang="en-US" sz="2300" dirty="0"/>
          </a:p>
        </p:txBody>
      </p:sp>
      <p:sp>
        <p:nvSpPr>
          <p:cNvPr id="162" name="Text 140"/>
          <p:cNvSpPr txBox="1"/>
          <p:nvPr/>
        </p:nvSpPr>
        <p:spPr>
          <a:xfrm>
            <a:off x="24140160" y="1552651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at head height, voice alerts, helmet-on switch</a:t>
            </a:r>
            <a:endParaRPr lang="en-US" sz="1800" dirty="0"/>
          </a:p>
        </p:txBody>
      </p:sp>
      <p:sp>
        <p:nvSpPr>
          <p:cNvPr id="163" name="Shape 141"/>
          <p:cNvSpPr/>
          <p:nvPr/>
        </p:nvSpPr>
        <p:spPr>
          <a:xfrm>
            <a:off x="26517600" y="15316200"/>
            <a:ext cx="2889504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64" name="Shape 142"/>
          <p:cNvSpPr/>
          <p:nvPr/>
        </p:nvSpPr>
        <p:spPr>
          <a:xfrm flipV="1">
            <a:off x="29407104" y="15275052"/>
            <a:ext cx="0" cy="41148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65" name="Shape 143"/>
          <p:cNvSpPr/>
          <p:nvPr/>
        </p:nvSpPr>
        <p:spPr>
          <a:xfrm>
            <a:off x="29288232" y="15156180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6" name="Text 144"/>
          <p:cNvSpPr txBox="1"/>
          <p:nvPr/>
        </p:nvSpPr>
        <p:spPr>
          <a:xfrm>
            <a:off x="30615577" y="1600200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pod · chest</a:t>
            </a:r>
            <a:endParaRPr lang="en-US" sz="2300" dirty="0"/>
          </a:p>
        </p:txBody>
      </p:sp>
      <p:sp>
        <p:nvSpPr>
          <p:cNvPr id="167" name="Text 145"/>
          <p:cNvSpPr txBox="1"/>
          <p:nvPr/>
        </p:nvSpPr>
        <p:spPr>
          <a:xfrm>
            <a:off x="30615577" y="1644091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ESP32-C6, 3000 mAh, IMU + pressure, SOS</a:t>
            </a:r>
            <a:endParaRPr lang="en-US" sz="1800" dirty="0"/>
          </a:p>
        </p:txBody>
      </p:sp>
      <p:sp>
        <p:nvSpPr>
          <p:cNvPr id="168" name="Shape 146"/>
          <p:cNvSpPr/>
          <p:nvPr/>
        </p:nvSpPr>
        <p:spPr>
          <a:xfrm flipH="1">
            <a:off x="29149989" y="16230600"/>
            <a:ext cx="3146619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69" name="Shape 147"/>
          <p:cNvSpPr/>
          <p:nvPr/>
        </p:nvSpPr>
        <p:spPr>
          <a:xfrm>
            <a:off x="29149989" y="16230600"/>
            <a:ext cx="0" cy="245516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70" name="Shape 148"/>
          <p:cNvSpPr/>
          <p:nvPr/>
        </p:nvSpPr>
        <p:spPr>
          <a:xfrm>
            <a:off x="29031117" y="16357244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1" name="Text 149"/>
          <p:cNvSpPr txBox="1"/>
          <p:nvPr/>
        </p:nvSpPr>
        <p:spPr>
          <a:xfrm>
            <a:off x="24140160" y="1723644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seams</a:t>
            </a:r>
            <a:endParaRPr lang="en-US" sz="2300" dirty="0"/>
          </a:p>
        </p:txBody>
      </p:sp>
      <p:sp>
        <p:nvSpPr>
          <p:cNvPr id="172" name="Text 150"/>
          <p:cNvSpPr txBox="1"/>
          <p:nvPr/>
        </p:nvSpPr>
        <p:spPr>
          <a:xfrm>
            <a:off x="24140160" y="1767535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switch, conductive thread: opened or torn = alert</a:t>
            </a:r>
            <a:endParaRPr lang="en-US" sz="1800" dirty="0"/>
          </a:p>
        </p:txBody>
      </p:sp>
      <p:sp>
        <p:nvSpPr>
          <p:cNvPr id="173" name="Shape 151"/>
          <p:cNvSpPr/>
          <p:nvPr/>
        </p:nvSpPr>
        <p:spPr>
          <a:xfrm>
            <a:off x="26517600" y="17465040"/>
            <a:ext cx="2825225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74" name="Shape 152"/>
          <p:cNvSpPr/>
          <p:nvPr/>
        </p:nvSpPr>
        <p:spPr>
          <a:xfrm flipV="1">
            <a:off x="29342825" y="17092879"/>
            <a:ext cx="0" cy="372161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75" name="Shape 153"/>
          <p:cNvSpPr/>
          <p:nvPr/>
        </p:nvSpPr>
        <p:spPr>
          <a:xfrm>
            <a:off x="29223953" y="16974007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6" name="Text 154"/>
          <p:cNvSpPr txBox="1"/>
          <p:nvPr/>
        </p:nvSpPr>
        <p:spPr>
          <a:xfrm>
            <a:off x="30615577" y="1805940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cuff</a:t>
            </a:r>
            <a:endParaRPr lang="en-US" sz="2300" dirty="0"/>
          </a:p>
        </p:txBody>
      </p:sp>
      <p:sp>
        <p:nvSpPr>
          <p:cNvPr id="177" name="Text 155"/>
          <p:cNvSpPr txBox="1"/>
          <p:nvPr/>
        </p:nvSpPr>
        <p:spPr>
          <a:xfrm>
            <a:off x="30615577" y="1849831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3 glove buttons, vibration, HR + SpO₂</a:t>
            </a:r>
            <a:endParaRPr lang="en-US" sz="1800" dirty="0"/>
          </a:p>
        </p:txBody>
      </p:sp>
      <p:sp>
        <p:nvSpPr>
          <p:cNvPr id="178" name="Shape 156"/>
          <p:cNvSpPr/>
          <p:nvPr/>
        </p:nvSpPr>
        <p:spPr>
          <a:xfrm flipH="1">
            <a:off x="30264155" y="18288000"/>
            <a:ext cx="2032453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79" name="Shape 157"/>
          <p:cNvSpPr/>
          <p:nvPr/>
        </p:nvSpPr>
        <p:spPr>
          <a:xfrm flipV="1">
            <a:off x="30264155" y="17677181"/>
            <a:ext cx="0" cy="610819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80" name="Shape 158"/>
          <p:cNvSpPr/>
          <p:nvPr/>
        </p:nvSpPr>
        <p:spPr>
          <a:xfrm>
            <a:off x="30145283" y="17558309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1" name="Text 159"/>
          <p:cNvSpPr txBox="1"/>
          <p:nvPr/>
        </p:nvSpPr>
        <p:spPr>
          <a:xfrm>
            <a:off x="30615577" y="2011680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bands</a:t>
            </a:r>
            <a:endParaRPr lang="en-US" sz="2300" dirty="0"/>
          </a:p>
        </p:txBody>
      </p:sp>
      <p:sp>
        <p:nvSpPr>
          <p:cNvPr id="182" name="Text 160"/>
          <p:cNvSpPr txBox="1"/>
          <p:nvPr/>
        </p:nvSpPr>
        <p:spPr>
          <a:xfrm>
            <a:off x="30615577" y="2055571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hi-vis in cap-lamp light</a:t>
            </a:r>
            <a:endParaRPr lang="en-US" sz="1800" dirty="0"/>
          </a:p>
        </p:txBody>
      </p:sp>
      <p:sp>
        <p:nvSpPr>
          <p:cNvPr id="183" name="Shape 161"/>
          <p:cNvSpPr/>
          <p:nvPr/>
        </p:nvSpPr>
        <p:spPr>
          <a:xfrm flipH="1">
            <a:off x="29835629" y="20345400"/>
            <a:ext cx="2460979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84" name="Shape 162"/>
          <p:cNvSpPr/>
          <p:nvPr/>
        </p:nvSpPr>
        <p:spPr>
          <a:xfrm flipV="1">
            <a:off x="29835629" y="20274077"/>
            <a:ext cx="0" cy="71323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85" name="Shape 163"/>
          <p:cNvSpPr/>
          <p:nvPr/>
        </p:nvSpPr>
        <p:spPr>
          <a:xfrm>
            <a:off x="29716757" y="20155205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6" name="Text 164"/>
          <p:cNvSpPr txBox="1"/>
          <p:nvPr/>
        </p:nvSpPr>
        <p:spPr>
          <a:xfrm>
            <a:off x="24140160" y="20391120"/>
            <a:ext cx="4058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pod</a:t>
            </a:r>
            <a:endParaRPr lang="en-US" sz="2300" dirty="0"/>
          </a:p>
        </p:txBody>
      </p:sp>
      <p:sp>
        <p:nvSpPr>
          <p:cNvPr id="187" name="Text 165"/>
          <p:cNvSpPr txBox="1"/>
          <p:nvPr/>
        </p:nvSpPr>
        <p:spPr>
          <a:xfrm>
            <a:off x="24140160" y="20830032"/>
            <a:ext cx="40584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IMU measures every real stride</a:t>
            </a:r>
            <a:endParaRPr lang="en-US" sz="1800" dirty="0"/>
          </a:p>
        </p:txBody>
      </p:sp>
      <p:sp>
        <p:nvSpPr>
          <p:cNvPr id="188" name="Shape 166"/>
          <p:cNvSpPr/>
          <p:nvPr/>
        </p:nvSpPr>
        <p:spPr>
          <a:xfrm>
            <a:off x="26517600" y="20619720"/>
            <a:ext cx="2460979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89" name="Shape 167"/>
          <p:cNvSpPr/>
          <p:nvPr/>
        </p:nvSpPr>
        <p:spPr>
          <a:xfrm>
            <a:off x="28978579" y="20619720"/>
            <a:ext cx="0" cy="498348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190" name="Shape 168"/>
          <p:cNvSpPr/>
          <p:nvPr/>
        </p:nvSpPr>
        <p:spPr>
          <a:xfrm>
            <a:off x="28859707" y="20999196"/>
            <a:ext cx="237744" cy="237744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1" name="Text 169"/>
          <p:cNvSpPr txBox="1"/>
          <p:nvPr/>
        </p:nvSpPr>
        <p:spPr>
          <a:xfrm>
            <a:off x="24140160" y="21579840"/>
            <a:ext cx="10533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locked: removal is detected, never prevented</a:t>
            </a:r>
            <a:endParaRPr lang="en-US" sz="1800" dirty="0"/>
          </a:p>
        </p:txBody>
      </p:sp>
      <p:sp>
        <p:nvSpPr>
          <p:cNvPr id="192" name="Shape 170"/>
          <p:cNvSpPr/>
          <p:nvPr/>
        </p:nvSpPr>
        <p:spPr>
          <a:xfrm>
            <a:off x="1051560" y="22539960"/>
            <a:ext cx="11064240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193" name="Shape 171"/>
          <p:cNvSpPr/>
          <p:nvPr/>
        </p:nvSpPr>
        <p:spPr>
          <a:xfrm>
            <a:off x="1051560" y="22539960"/>
            <a:ext cx="1106424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194" name="Shape 172"/>
          <p:cNvSpPr/>
          <p:nvPr/>
        </p:nvSpPr>
        <p:spPr>
          <a:xfrm>
            <a:off x="1051560" y="2253996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5" name="Text 173"/>
          <p:cNvSpPr txBox="1"/>
          <p:nvPr/>
        </p:nvSpPr>
        <p:spPr>
          <a:xfrm>
            <a:off x="1051560" y="225399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196" name="Text 174"/>
          <p:cNvSpPr txBox="1"/>
          <p:nvPr/>
        </p:nvSpPr>
        <p:spPr>
          <a:xfrm>
            <a:off x="2377440" y="22539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WITHOUT GPS</a:t>
            </a:r>
            <a:endParaRPr lang="en-US" sz="3200" dirty="0"/>
          </a:p>
        </p:txBody>
      </p:sp>
      <p:sp>
        <p:nvSpPr>
          <p:cNvPr id="197" name="Shape 175"/>
          <p:cNvSpPr/>
          <p:nvPr/>
        </p:nvSpPr>
        <p:spPr>
          <a:xfrm>
            <a:off x="1325880" y="23774400"/>
            <a:ext cx="658368" cy="658368"/>
          </a:xfrm>
          <a:prstGeom prst="ellipse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198" name="Text 176"/>
          <p:cNvSpPr txBox="1"/>
          <p:nvPr/>
        </p:nvSpPr>
        <p:spPr>
          <a:xfrm>
            <a:off x="1325880" y="2377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99" name="Shape 177"/>
          <p:cNvSpPr/>
          <p:nvPr/>
        </p:nvSpPr>
        <p:spPr>
          <a:xfrm>
            <a:off x="1655064" y="24460200"/>
            <a:ext cx="0" cy="41148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</a:ln>
        </p:spPr>
      </p:sp>
      <p:sp>
        <p:nvSpPr>
          <p:cNvPr id="200" name="Text 178"/>
          <p:cNvSpPr txBox="1"/>
          <p:nvPr/>
        </p:nvSpPr>
        <p:spPr>
          <a:xfrm>
            <a:off x="2148840" y="2372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steps</a:t>
            </a:r>
            <a:endParaRPr lang="en-US" sz="2200" dirty="0"/>
          </a:p>
        </p:txBody>
      </p:sp>
      <p:sp>
        <p:nvSpPr>
          <p:cNvPr id="201" name="Text 179"/>
          <p:cNvSpPr txBox="1"/>
          <p:nvPr/>
        </p:nvSpPr>
        <p:spPr>
          <a:xfrm>
            <a:off x="2148840" y="241218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× gyro heading; pressure gives the level</a:t>
            </a:r>
            <a:endParaRPr lang="en-US" sz="1700" dirty="0"/>
          </a:p>
        </p:txBody>
      </p:sp>
      <p:sp>
        <p:nvSpPr>
          <p:cNvPr id="202" name="Shape 180"/>
          <p:cNvSpPr/>
          <p:nvPr/>
        </p:nvSpPr>
        <p:spPr>
          <a:xfrm>
            <a:off x="1325880" y="24889968"/>
            <a:ext cx="658368" cy="658368"/>
          </a:xfrm>
          <a:prstGeom prst="ellipse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03" name="Text 181"/>
          <p:cNvSpPr txBox="1"/>
          <p:nvPr/>
        </p:nvSpPr>
        <p:spPr>
          <a:xfrm>
            <a:off x="1325880" y="24889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04" name="Shape 182"/>
          <p:cNvSpPr/>
          <p:nvPr/>
        </p:nvSpPr>
        <p:spPr>
          <a:xfrm>
            <a:off x="1655064" y="25575768"/>
            <a:ext cx="0" cy="41148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</a:ln>
        </p:spPr>
      </p:sp>
      <p:sp>
        <p:nvSpPr>
          <p:cNvPr id="205" name="Text 183"/>
          <p:cNvSpPr txBox="1"/>
          <p:nvPr/>
        </p:nvSpPr>
        <p:spPr>
          <a:xfrm>
            <a:off x="2148840" y="24844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to tunnel</a:t>
            </a:r>
            <a:endParaRPr lang="en-US" sz="2200" dirty="0"/>
          </a:p>
        </p:txBody>
      </p:sp>
      <p:sp>
        <p:nvSpPr>
          <p:cNvPr id="206" name="Text 184"/>
          <p:cNvSpPr txBox="1"/>
          <p:nvPr/>
        </p:nvSpPr>
        <p:spPr>
          <a:xfrm>
            <a:off x="2148840" y="25237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pulled onto the mine-map centre line</a:t>
            </a:r>
            <a:endParaRPr lang="en-US" sz="1700" dirty="0"/>
          </a:p>
        </p:txBody>
      </p:sp>
      <p:sp>
        <p:nvSpPr>
          <p:cNvPr id="207" name="Shape 185"/>
          <p:cNvSpPr/>
          <p:nvPr/>
        </p:nvSpPr>
        <p:spPr>
          <a:xfrm>
            <a:off x="1325880" y="26005536"/>
            <a:ext cx="658368" cy="658368"/>
          </a:xfrm>
          <a:prstGeom prst="ellipse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08" name="Text 186"/>
          <p:cNvSpPr txBox="1"/>
          <p:nvPr/>
        </p:nvSpPr>
        <p:spPr>
          <a:xfrm>
            <a:off x="1325880" y="2600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9" name="Shape 187"/>
          <p:cNvSpPr/>
          <p:nvPr/>
        </p:nvSpPr>
        <p:spPr>
          <a:xfrm>
            <a:off x="1655064" y="26691336"/>
            <a:ext cx="0" cy="41148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</a:ln>
        </p:spPr>
      </p:sp>
      <p:sp>
        <p:nvSpPr>
          <p:cNvPr id="210" name="Text 188"/>
          <p:cNvSpPr txBox="1"/>
          <p:nvPr/>
        </p:nvSpPr>
        <p:spPr>
          <a:xfrm>
            <a:off x="2148840" y="25959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at repeater</a:t>
            </a:r>
            <a:endParaRPr lang="en-US" sz="2200" dirty="0"/>
          </a:p>
        </p:txBody>
      </p:sp>
      <p:sp>
        <p:nvSpPr>
          <p:cNvPr id="211" name="Text 189"/>
          <p:cNvSpPr txBox="1"/>
          <p:nvPr/>
        </p:nvSpPr>
        <p:spPr>
          <a:xfrm>
            <a:off x="2148840" y="263530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≥ −55 dBm → drift back to zero</a:t>
            </a:r>
            <a:endParaRPr lang="en-US" sz="1700" dirty="0"/>
          </a:p>
        </p:txBody>
      </p:sp>
      <p:sp>
        <p:nvSpPr>
          <p:cNvPr id="212" name="Shape 190"/>
          <p:cNvSpPr/>
          <p:nvPr/>
        </p:nvSpPr>
        <p:spPr>
          <a:xfrm>
            <a:off x="1325880" y="27121104"/>
            <a:ext cx="658368" cy="658368"/>
          </a:xfrm>
          <a:prstGeom prst="ellipse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13" name="Text 191"/>
          <p:cNvSpPr txBox="1"/>
          <p:nvPr/>
        </p:nvSpPr>
        <p:spPr>
          <a:xfrm>
            <a:off x="1325880" y="271211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4" name="Text 192"/>
          <p:cNvSpPr txBox="1"/>
          <p:nvPr/>
        </p:nvSpPr>
        <p:spPr>
          <a:xfrm>
            <a:off x="2148840" y="27075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around danger</a:t>
            </a:r>
            <a:endParaRPr lang="en-US" sz="2200" dirty="0"/>
          </a:p>
        </p:txBody>
      </p:sp>
      <p:sp>
        <p:nvSpPr>
          <p:cNvPr id="215" name="Text 193"/>
          <p:cNvSpPr txBox="1"/>
          <p:nvPr/>
        </p:nvSpPr>
        <p:spPr>
          <a:xfrm>
            <a:off x="2148840" y="2746857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from all exits, hazard zone ×1000 cost</a:t>
            </a:r>
            <a:endParaRPr lang="en-US" sz="1700" dirty="0"/>
          </a:p>
        </p:txBody>
      </p:sp>
      <p:pic>
        <p:nvPicPr>
          <p:cNvPr id="216" name="Image 18" descr="Evacuation in the 3D control app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3600" y="23774400"/>
            <a:ext cx="5897880" cy="3685032"/>
          </a:xfrm>
          <a:prstGeom prst="rect">
            <a:avLst/>
          </a:prstGeom>
        </p:spPr>
      </p:pic>
      <p:sp>
        <p:nvSpPr>
          <p:cNvPr id="217" name="Shape 194"/>
          <p:cNvSpPr/>
          <p:nvPr/>
        </p:nvSpPr>
        <p:spPr>
          <a:xfrm>
            <a:off x="5943600" y="23774400"/>
            <a:ext cx="5897880" cy="3685032"/>
          </a:xfrm>
          <a:prstGeom prst="rect">
            <a:avLst/>
          </a:prstGeom>
          <a:ln w="19050">
            <a:solidFill>
              <a:srgbClr val="1B2329"/>
            </a:solidFill>
            <a:prstDash val="solid"/>
          </a:ln>
        </p:spPr>
      </p:sp>
      <p:sp>
        <p:nvSpPr>
          <p:cNvPr id="218" name="Text 195"/>
          <p:cNvSpPr txBox="1"/>
          <p:nvPr/>
        </p:nvSpPr>
        <p:spPr>
          <a:xfrm>
            <a:off x="5943600" y="2752344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control app: routes bend around a gas leak, every exit sign updates</a:t>
            </a:r>
            <a:endParaRPr lang="en-US" sz="1700" dirty="0"/>
          </a:p>
        </p:txBody>
      </p:sp>
      <p:sp>
        <p:nvSpPr>
          <p:cNvPr id="219" name="Shape 196"/>
          <p:cNvSpPr/>
          <p:nvPr/>
        </p:nvSpPr>
        <p:spPr>
          <a:xfrm>
            <a:off x="12527280" y="22539960"/>
            <a:ext cx="11521440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220" name="Shape 197"/>
          <p:cNvSpPr/>
          <p:nvPr/>
        </p:nvSpPr>
        <p:spPr>
          <a:xfrm>
            <a:off x="12527280" y="22539960"/>
            <a:ext cx="1152144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21" name="Shape 198"/>
          <p:cNvSpPr/>
          <p:nvPr/>
        </p:nvSpPr>
        <p:spPr>
          <a:xfrm>
            <a:off x="12527280" y="2253996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22" name="Text 199"/>
          <p:cNvSpPr txBox="1"/>
          <p:nvPr/>
        </p:nvSpPr>
        <p:spPr>
          <a:xfrm>
            <a:off x="12527280" y="225399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223" name="Text 200"/>
          <p:cNvSpPr txBox="1"/>
          <p:nvPr/>
        </p:nvSpPr>
        <p:spPr>
          <a:xfrm>
            <a:off x="13853160" y="22539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REPEATER: BUILT FOR THE MINE</a:t>
            </a:r>
            <a:endParaRPr lang="en-US" sz="3200" dirty="0"/>
          </a:p>
        </p:txBody>
      </p:sp>
      <p:pic>
        <p:nvPicPr>
          <p:cNvPr id="224" name="Image 19" descr="Repeater enclosure 3D render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356022" y="23637240"/>
            <a:ext cx="3863956" cy="4617720"/>
          </a:xfrm>
          <a:prstGeom prst="rect">
            <a:avLst/>
          </a:prstGeom>
        </p:spPr>
      </p:pic>
      <p:sp>
        <p:nvSpPr>
          <p:cNvPr id="225" name="Text 201"/>
          <p:cNvSpPr txBox="1"/>
          <p:nvPr/>
        </p:nvSpPr>
        <p:spPr>
          <a:xfrm>
            <a:off x="20311418" y="2372868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port on top</a:t>
            </a:r>
            <a:endParaRPr lang="en-US" sz="2100" dirty="0"/>
          </a:p>
        </p:txBody>
      </p:sp>
      <p:sp>
        <p:nvSpPr>
          <p:cNvPr id="226" name="Text 202"/>
          <p:cNvSpPr txBox="1"/>
          <p:nvPr/>
        </p:nvSpPr>
        <p:spPr>
          <a:xfrm>
            <a:off x="20311418" y="2414016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rises; rain chimney</a:t>
            </a:r>
            <a:endParaRPr lang="en-US" sz="1700" dirty="0"/>
          </a:p>
        </p:txBody>
      </p:sp>
      <p:sp>
        <p:nvSpPr>
          <p:cNvPr id="227" name="Shape 203"/>
          <p:cNvSpPr/>
          <p:nvPr/>
        </p:nvSpPr>
        <p:spPr>
          <a:xfrm flipH="1">
            <a:off x="19679024" y="23929848"/>
            <a:ext cx="678114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28" name="Shape 204"/>
          <p:cNvSpPr/>
          <p:nvPr/>
        </p:nvSpPr>
        <p:spPr>
          <a:xfrm flipV="1">
            <a:off x="19679024" y="23914303"/>
            <a:ext cx="0" cy="15545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29" name="Shape 205"/>
          <p:cNvSpPr/>
          <p:nvPr/>
        </p:nvSpPr>
        <p:spPr>
          <a:xfrm>
            <a:off x="19569296" y="23804575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0" name="Text 206"/>
          <p:cNvSpPr txBox="1"/>
          <p:nvPr/>
        </p:nvSpPr>
        <p:spPr>
          <a:xfrm>
            <a:off x="12755880" y="2372868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exit sign</a:t>
            </a:r>
            <a:endParaRPr lang="en-US" sz="2100" dirty="0"/>
          </a:p>
        </p:txBody>
      </p:sp>
      <p:sp>
        <p:nvSpPr>
          <p:cNvPr id="231" name="Text 207"/>
          <p:cNvSpPr txBox="1"/>
          <p:nvPr/>
        </p:nvSpPr>
        <p:spPr>
          <a:xfrm>
            <a:off x="12755880" y="2414016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+ metres, under a drip hood</a:t>
            </a:r>
            <a:endParaRPr lang="en-US" sz="1700" dirty="0"/>
          </a:p>
        </p:txBody>
      </p:sp>
      <p:sp>
        <p:nvSpPr>
          <p:cNvPr id="232" name="Shape 208"/>
          <p:cNvSpPr/>
          <p:nvPr/>
        </p:nvSpPr>
        <p:spPr>
          <a:xfrm>
            <a:off x="16218862" y="23929848"/>
            <a:ext cx="1875940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33" name="Shape 209"/>
          <p:cNvSpPr/>
          <p:nvPr/>
        </p:nvSpPr>
        <p:spPr>
          <a:xfrm>
            <a:off x="18094802" y="23929848"/>
            <a:ext cx="0" cy="630936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34" name="Shape 210"/>
          <p:cNvSpPr/>
          <p:nvPr/>
        </p:nvSpPr>
        <p:spPr>
          <a:xfrm>
            <a:off x="17985074" y="24451056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5" name="Text 211"/>
          <p:cNvSpPr txBox="1"/>
          <p:nvPr/>
        </p:nvSpPr>
        <p:spPr>
          <a:xfrm>
            <a:off x="20311418" y="2528316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 gasket</a:t>
            </a:r>
            <a:endParaRPr lang="en-US" sz="2100" dirty="0"/>
          </a:p>
        </p:txBody>
      </p:sp>
      <p:sp>
        <p:nvSpPr>
          <p:cNvPr id="236" name="Text 212"/>
          <p:cNvSpPr txBox="1"/>
          <p:nvPr/>
        </p:nvSpPr>
        <p:spPr>
          <a:xfrm>
            <a:off x="20311418" y="2569464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cord, 6 × M4</a:t>
            </a:r>
            <a:endParaRPr lang="en-US" sz="1700" dirty="0"/>
          </a:p>
        </p:txBody>
      </p:sp>
      <p:sp>
        <p:nvSpPr>
          <p:cNvPr id="237" name="Shape 213"/>
          <p:cNvSpPr/>
          <p:nvPr/>
        </p:nvSpPr>
        <p:spPr>
          <a:xfrm flipH="1">
            <a:off x="20142699" y="25484328"/>
            <a:ext cx="214439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38" name="Shape 214"/>
          <p:cNvSpPr/>
          <p:nvPr/>
        </p:nvSpPr>
        <p:spPr>
          <a:xfrm>
            <a:off x="20142699" y="25484328"/>
            <a:ext cx="0" cy="230886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39" name="Shape 215"/>
          <p:cNvSpPr/>
          <p:nvPr/>
        </p:nvSpPr>
        <p:spPr>
          <a:xfrm>
            <a:off x="20032971" y="25605486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0" name="Text 216"/>
          <p:cNvSpPr txBox="1"/>
          <p:nvPr/>
        </p:nvSpPr>
        <p:spPr>
          <a:xfrm>
            <a:off x="12755880" y="2528316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dB buzzer</a:t>
            </a:r>
            <a:endParaRPr lang="en-US" sz="2100" dirty="0"/>
          </a:p>
        </p:txBody>
      </p:sp>
      <p:sp>
        <p:nvSpPr>
          <p:cNvPr id="241" name="Text 217"/>
          <p:cNvSpPr txBox="1"/>
          <p:nvPr/>
        </p:nvSpPr>
        <p:spPr>
          <a:xfrm>
            <a:off x="12755880" y="2569464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if the hub is down</a:t>
            </a:r>
            <a:endParaRPr lang="en-US" sz="1700" dirty="0"/>
          </a:p>
        </p:txBody>
      </p:sp>
      <p:sp>
        <p:nvSpPr>
          <p:cNvPr id="242" name="Shape 218"/>
          <p:cNvSpPr/>
          <p:nvPr/>
        </p:nvSpPr>
        <p:spPr>
          <a:xfrm>
            <a:off x="16218862" y="25484328"/>
            <a:ext cx="523556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43" name="Shape 219"/>
          <p:cNvSpPr/>
          <p:nvPr/>
        </p:nvSpPr>
        <p:spPr>
          <a:xfrm>
            <a:off x="16742418" y="25484328"/>
            <a:ext cx="0" cy="1523848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44" name="Shape 220"/>
          <p:cNvSpPr/>
          <p:nvPr/>
        </p:nvSpPr>
        <p:spPr>
          <a:xfrm>
            <a:off x="16632690" y="26898448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5" name="Text 221"/>
          <p:cNvSpPr txBox="1"/>
          <p:nvPr/>
        </p:nvSpPr>
        <p:spPr>
          <a:xfrm>
            <a:off x="20311418" y="2683764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SOS</a:t>
            </a:r>
            <a:endParaRPr lang="en-US" sz="2100" dirty="0"/>
          </a:p>
        </p:txBody>
      </p:sp>
      <p:sp>
        <p:nvSpPr>
          <p:cNvPr id="246" name="Text 222"/>
          <p:cNvSpPr txBox="1"/>
          <p:nvPr/>
        </p:nvSpPr>
        <p:spPr>
          <a:xfrm>
            <a:off x="20311418" y="2724912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glove-sized, knock-proof</a:t>
            </a:r>
            <a:endParaRPr lang="en-US" sz="1700" dirty="0"/>
          </a:p>
        </p:txBody>
      </p:sp>
      <p:sp>
        <p:nvSpPr>
          <p:cNvPr id="247" name="Shape 223"/>
          <p:cNvSpPr/>
          <p:nvPr/>
        </p:nvSpPr>
        <p:spPr>
          <a:xfrm flipH="1">
            <a:off x="19138070" y="27038808"/>
            <a:ext cx="1219068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48" name="Shape 224"/>
          <p:cNvSpPr/>
          <p:nvPr/>
        </p:nvSpPr>
        <p:spPr>
          <a:xfrm>
            <a:off x="19138070" y="27038808"/>
            <a:ext cx="0" cy="384962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49" name="Shape 225"/>
          <p:cNvSpPr/>
          <p:nvPr/>
        </p:nvSpPr>
        <p:spPr>
          <a:xfrm>
            <a:off x="19028342" y="27314042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0" name="Text 226"/>
          <p:cNvSpPr txBox="1"/>
          <p:nvPr/>
        </p:nvSpPr>
        <p:spPr>
          <a:xfrm>
            <a:off x="12755880" y="26837640"/>
            <a:ext cx="35087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/ H₂S below</a:t>
            </a:r>
            <a:endParaRPr lang="en-US" sz="2100" dirty="0"/>
          </a:p>
        </p:txBody>
      </p:sp>
      <p:sp>
        <p:nvSpPr>
          <p:cNvPr id="251" name="Text 227"/>
          <p:cNvSpPr txBox="1"/>
          <p:nvPr/>
        </p:nvSpPr>
        <p:spPr>
          <a:xfrm>
            <a:off x="12755880" y="27249120"/>
            <a:ext cx="35087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gases; flame arrestors</a:t>
            </a:r>
            <a:endParaRPr lang="en-US" sz="1700" dirty="0"/>
          </a:p>
        </p:txBody>
      </p:sp>
      <p:sp>
        <p:nvSpPr>
          <p:cNvPr id="252" name="Shape 228"/>
          <p:cNvSpPr/>
          <p:nvPr/>
        </p:nvSpPr>
        <p:spPr>
          <a:xfrm>
            <a:off x="16218862" y="27038808"/>
            <a:ext cx="1412265" cy="0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53" name="Shape 229"/>
          <p:cNvSpPr/>
          <p:nvPr/>
        </p:nvSpPr>
        <p:spPr>
          <a:xfrm>
            <a:off x="17631128" y="27038808"/>
            <a:ext cx="0" cy="892912"/>
          </a:xfrm>
          <a:prstGeom prst="line">
            <a:avLst/>
          </a:prstGeom>
          <a:noFill/>
          <a:ln w="25400">
            <a:solidFill>
              <a:srgbClr val="E8710A"/>
            </a:solidFill>
            <a:prstDash val="solid"/>
          </a:ln>
        </p:spPr>
      </p:sp>
      <p:sp>
        <p:nvSpPr>
          <p:cNvPr id="254" name="Shape 230"/>
          <p:cNvSpPr/>
          <p:nvPr/>
        </p:nvSpPr>
        <p:spPr>
          <a:xfrm>
            <a:off x="17521400" y="27821992"/>
            <a:ext cx="219456" cy="219456"/>
          </a:xfrm>
          <a:prstGeom prst="ellipse">
            <a:avLst/>
          </a:prstGeom>
          <a:solidFill>
            <a:srgbClr val="E87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5" name="Shape 231"/>
          <p:cNvSpPr/>
          <p:nvPr/>
        </p:nvSpPr>
        <p:spPr>
          <a:xfrm>
            <a:off x="24460200" y="22539960"/>
            <a:ext cx="10488168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256" name="Shape 232"/>
          <p:cNvSpPr/>
          <p:nvPr/>
        </p:nvSpPr>
        <p:spPr>
          <a:xfrm>
            <a:off x="24460200" y="22539960"/>
            <a:ext cx="10488168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57" name="Shape 233"/>
          <p:cNvSpPr/>
          <p:nvPr/>
        </p:nvSpPr>
        <p:spPr>
          <a:xfrm>
            <a:off x="24460200" y="2253996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8" name="Text 234"/>
          <p:cNvSpPr txBox="1"/>
          <p:nvPr/>
        </p:nvSpPr>
        <p:spPr>
          <a:xfrm>
            <a:off x="24460200" y="225399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259" name="Text 235"/>
          <p:cNvSpPr txBox="1"/>
          <p:nvPr/>
        </p:nvSpPr>
        <p:spPr>
          <a:xfrm>
            <a:off x="25786080" y="22539960"/>
            <a:ext cx="9025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DESIGN AND PCBS</a:t>
            </a:r>
            <a:endParaRPr lang="en-US" sz="3200" dirty="0"/>
          </a:p>
        </p:txBody>
      </p:sp>
      <p:sp>
        <p:nvSpPr>
          <p:cNvPr id="260" name="Shape 236"/>
          <p:cNvSpPr/>
          <p:nvPr/>
        </p:nvSpPr>
        <p:spPr>
          <a:xfrm>
            <a:off x="24734520" y="2377440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261" name="Text 237"/>
          <p:cNvSpPr txBox="1"/>
          <p:nvPr/>
        </p:nvSpPr>
        <p:spPr>
          <a:xfrm>
            <a:off x="24734520" y="2377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9–30 V</a:t>
            </a:r>
            <a:endParaRPr lang="en-US" sz="1800" dirty="0"/>
          </a:p>
        </p:txBody>
      </p:sp>
      <p:sp>
        <p:nvSpPr>
          <p:cNvPr id="262" name="Shape 238"/>
          <p:cNvSpPr/>
          <p:nvPr/>
        </p:nvSpPr>
        <p:spPr>
          <a:xfrm>
            <a:off x="24734520" y="2468880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2F5F9E"/>
            </a:solidFill>
            <a:prstDash val="solid"/>
          </a:ln>
        </p:spPr>
      </p:sp>
      <p:sp>
        <p:nvSpPr>
          <p:cNvPr id="263" name="Text 239"/>
          <p:cNvSpPr txBox="1"/>
          <p:nvPr/>
        </p:nvSpPr>
        <p:spPr>
          <a:xfrm>
            <a:off x="24734520" y="2468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12 V</a:t>
            </a:r>
            <a:endParaRPr lang="en-US" sz="1800" dirty="0"/>
          </a:p>
        </p:txBody>
      </p:sp>
      <p:sp>
        <p:nvSpPr>
          <p:cNvPr id="264" name="Shape 240"/>
          <p:cNvSpPr/>
          <p:nvPr/>
        </p:nvSpPr>
        <p:spPr>
          <a:xfrm>
            <a:off x="26563320" y="24140160"/>
            <a:ext cx="153162" cy="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265" name="Shape 241"/>
          <p:cNvSpPr/>
          <p:nvPr/>
        </p:nvSpPr>
        <p:spPr>
          <a:xfrm>
            <a:off x="26563320" y="25054560"/>
            <a:ext cx="153162" cy="0"/>
          </a:xfrm>
          <a:prstGeom prst="line">
            <a:avLst/>
          </a:prstGeom>
          <a:noFill/>
          <a:ln w="31750">
            <a:solidFill>
              <a:srgbClr val="2F5F9E"/>
            </a:solidFill>
            <a:prstDash val="solid"/>
            <a:tailEnd type="triangle"/>
          </a:ln>
        </p:spPr>
      </p:sp>
      <p:sp>
        <p:nvSpPr>
          <p:cNvPr id="266" name="Shape 242"/>
          <p:cNvSpPr/>
          <p:nvPr/>
        </p:nvSpPr>
        <p:spPr>
          <a:xfrm>
            <a:off x="26716482" y="23774400"/>
            <a:ext cx="16916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267" name="Text 243"/>
          <p:cNvSpPr txBox="1"/>
          <p:nvPr/>
        </p:nvSpPr>
        <p:spPr>
          <a:xfrm>
            <a:off x="26762202" y="2395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 OR</a:t>
            </a:r>
            <a:endParaRPr lang="en-US" sz="1900" dirty="0"/>
          </a:p>
        </p:txBody>
      </p:sp>
      <p:sp>
        <p:nvSpPr>
          <p:cNvPr id="268" name="Text 244"/>
          <p:cNvSpPr txBox="1"/>
          <p:nvPr/>
        </p:nvSpPr>
        <p:spPr>
          <a:xfrm>
            <a:off x="26762202" y="2473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reset</a:t>
            </a:r>
            <a:endParaRPr lang="en-US" sz="1600" dirty="0"/>
          </a:p>
        </p:txBody>
      </p:sp>
      <p:sp>
        <p:nvSpPr>
          <p:cNvPr id="269" name="Shape 245"/>
          <p:cNvSpPr/>
          <p:nvPr/>
        </p:nvSpPr>
        <p:spPr>
          <a:xfrm>
            <a:off x="28408122" y="24597360"/>
            <a:ext cx="153162" cy="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270" name="Shape 246"/>
          <p:cNvSpPr/>
          <p:nvPr/>
        </p:nvSpPr>
        <p:spPr>
          <a:xfrm>
            <a:off x="28561284" y="23774400"/>
            <a:ext cx="17830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271" name="Text 247"/>
          <p:cNvSpPr txBox="1"/>
          <p:nvPr/>
        </p:nvSpPr>
        <p:spPr>
          <a:xfrm>
            <a:off x="28607004" y="239572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TVS</a:t>
            </a:r>
            <a:endParaRPr lang="en-US" sz="1900" dirty="0"/>
          </a:p>
        </p:txBody>
      </p:sp>
      <p:sp>
        <p:nvSpPr>
          <p:cNvPr id="272" name="Text 248"/>
          <p:cNvSpPr txBox="1"/>
          <p:nvPr/>
        </p:nvSpPr>
        <p:spPr>
          <a:xfrm>
            <a:off x="28607004" y="24734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A · 36 V</a:t>
            </a:r>
            <a:endParaRPr lang="en-US" sz="1600" dirty="0"/>
          </a:p>
        </p:txBody>
      </p:sp>
      <p:sp>
        <p:nvSpPr>
          <p:cNvPr id="273" name="Shape 249"/>
          <p:cNvSpPr/>
          <p:nvPr/>
        </p:nvSpPr>
        <p:spPr>
          <a:xfrm>
            <a:off x="30344364" y="24597360"/>
            <a:ext cx="153162" cy="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274" name="Shape 250"/>
          <p:cNvSpPr/>
          <p:nvPr/>
        </p:nvSpPr>
        <p:spPr>
          <a:xfrm>
            <a:off x="30497526" y="23774400"/>
            <a:ext cx="16916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B2329"/>
            </a:solidFill>
            <a:prstDash val="solid"/>
          </a:ln>
        </p:spPr>
      </p:sp>
      <p:sp>
        <p:nvSpPr>
          <p:cNvPr id="275" name="Text 251"/>
          <p:cNvSpPr txBox="1"/>
          <p:nvPr/>
        </p:nvSpPr>
        <p:spPr>
          <a:xfrm>
            <a:off x="30543246" y="2395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buck</a:t>
            </a:r>
            <a:endParaRPr lang="en-US" sz="1900" dirty="0"/>
          </a:p>
        </p:txBody>
      </p:sp>
      <p:sp>
        <p:nvSpPr>
          <p:cNvPr id="276" name="Text 252"/>
          <p:cNvSpPr txBox="1"/>
          <p:nvPr/>
        </p:nvSpPr>
        <p:spPr>
          <a:xfrm>
            <a:off x="30543246" y="2473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A, 90 %</a:t>
            </a:r>
            <a:endParaRPr lang="en-US" sz="1600" dirty="0"/>
          </a:p>
        </p:txBody>
      </p:sp>
      <p:sp>
        <p:nvSpPr>
          <p:cNvPr id="277" name="Shape 253"/>
          <p:cNvSpPr/>
          <p:nvPr/>
        </p:nvSpPr>
        <p:spPr>
          <a:xfrm>
            <a:off x="32189166" y="24597360"/>
            <a:ext cx="153162" cy="0"/>
          </a:xfrm>
          <a:prstGeom prst="line">
            <a:avLst/>
          </a:prstGeom>
          <a:noFill/>
          <a:ln w="31750">
            <a:solidFill>
              <a:srgbClr val="1B2329"/>
            </a:solidFill>
            <a:prstDash val="solid"/>
            <a:tailEnd type="triangle"/>
          </a:ln>
        </p:spPr>
      </p:sp>
      <p:sp>
        <p:nvSpPr>
          <p:cNvPr id="278" name="Shape 254"/>
          <p:cNvSpPr/>
          <p:nvPr/>
        </p:nvSpPr>
        <p:spPr>
          <a:xfrm>
            <a:off x="32342328" y="23774400"/>
            <a:ext cx="2331720" cy="1645920"/>
          </a:xfrm>
          <a:prstGeom prst="roundRect">
            <a:avLst>
              <a:gd name="adj" fmla="val 8333"/>
            </a:avLst>
          </a:prstGeom>
          <a:solidFill>
            <a:srgbClr val="FFF6DB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279" name="Text 255"/>
          <p:cNvSpPr txBox="1"/>
          <p:nvPr/>
        </p:nvSpPr>
        <p:spPr>
          <a:xfrm>
            <a:off x="32388048" y="239572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· 3 MQ · matrix</a:t>
            </a:r>
            <a:endParaRPr lang="en-US" sz="1900" dirty="0"/>
          </a:p>
        </p:txBody>
      </p:sp>
      <p:sp>
        <p:nvSpPr>
          <p:cNvPr id="280" name="Text 256"/>
          <p:cNvSpPr txBox="1"/>
          <p:nvPr/>
        </p:nvSpPr>
        <p:spPr>
          <a:xfrm>
            <a:off x="32388048" y="2473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3.7 W</a:t>
            </a:r>
            <a:endParaRPr lang="en-US" sz="1600" dirty="0"/>
          </a:p>
        </p:txBody>
      </p:sp>
      <p:pic>
        <p:nvPicPr>
          <p:cNvPr id="281" name="Image 20" descr="Repeater PCB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734520" y="25740360"/>
            <a:ext cx="2133600" cy="1600200"/>
          </a:xfrm>
          <a:prstGeom prst="rect">
            <a:avLst/>
          </a:prstGeom>
        </p:spPr>
      </p:pic>
      <p:sp>
        <p:nvSpPr>
          <p:cNvPr id="282" name="Text 257"/>
          <p:cNvSpPr txBox="1"/>
          <p:nvPr/>
        </p:nvSpPr>
        <p:spPr>
          <a:xfrm>
            <a:off x="24551640" y="2738628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</a:t>
            </a:r>
            <a:endParaRPr lang="en-US" sz="1700" dirty="0"/>
          </a:p>
        </p:txBody>
      </p:sp>
      <p:pic>
        <p:nvPicPr>
          <p:cNvPr id="283" name="Image 21" descr="Core PCB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202519" y="25740360"/>
            <a:ext cx="1954443" cy="1600200"/>
          </a:xfrm>
          <a:prstGeom prst="rect">
            <a:avLst/>
          </a:prstGeom>
        </p:spPr>
      </p:pic>
      <p:sp>
        <p:nvSpPr>
          <p:cNvPr id="284" name="Text 258"/>
          <p:cNvSpPr txBox="1"/>
          <p:nvPr/>
        </p:nvSpPr>
        <p:spPr>
          <a:xfrm>
            <a:off x="27019639" y="27386280"/>
            <a:ext cx="23202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700" dirty="0"/>
          </a:p>
        </p:txBody>
      </p:sp>
      <p:pic>
        <p:nvPicPr>
          <p:cNvPr id="285" name="Image 22" descr="Cuff PCB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491361" y="25740360"/>
            <a:ext cx="1752444" cy="1600200"/>
          </a:xfrm>
          <a:prstGeom prst="rect">
            <a:avLst/>
          </a:prstGeom>
        </p:spPr>
      </p:pic>
      <p:sp>
        <p:nvSpPr>
          <p:cNvPr id="286" name="Text 259"/>
          <p:cNvSpPr txBox="1"/>
          <p:nvPr/>
        </p:nvSpPr>
        <p:spPr>
          <a:xfrm>
            <a:off x="29308481" y="27386280"/>
            <a:ext cx="2118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</a:t>
            </a:r>
            <a:endParaRPr lang="en-US" sz="1700" dirty="0"/>
          </a:p>
        </p:txBody>
      </p:sp>
      <p:pic>
        <p:nvPicPr>
          <p:cNvPr id="287" name="Image 23" descr="Helmet PCB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578204" y="25740360"/>
            <a:ext cx="1466392" cy="1600200"/>
          </a:xfrm>
          <a:prstGeom prst="rect">
            <a:avLst/>
          </a:prstGeom>
        </p:spPr>
      </p:pic>
      <p:sp>
        <p:nvSpPr>
          <p:cNvPr id="288" name="Text 260"/>
          <p:cNvSpPr txBox="1"/>
          <p:nvPr/>
        </p:nvSpPr>
        <p:spPr>
          <a:xfrm>
            <a:off x="31395324" y="27386280"/>
            <a:ext cx="183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700" dirty="0"/>
          </a:p>
        </p:txBody>
      </p:sp>
      <p:pic>
        <p:nvPicPr>
          <p:cNvPr id="289" name="Image 24" descr="Boot PCB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378995" y="25740360"/>
            <a:ext cx="1295053" cy="1600200"/>
          </a:xfrm>
          <a:prstGeom prst="rect">
            <a:avLst/>
          </a:prstGeom>
        </p:spPr>
      </p:pic>
      <p:sp>
        <p:nvSpPr>
          <p:cNvPr id="290" name="Text 261"/>
          <p:cNvSpPr txBox="1"/>
          <p:nvPr/>
        </p:nvSpPr>
        <p:spPr>
          <a:xfrm>
            <a:off x="33196115" y="27386280"/>
            <a:ext cx="1660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700" dirty="0"/>
          </a:p>
        </p:txBody>
      </p:sp>
      <p:sp>
        <p:nvSpPr>
          <p:cNvPr id="291" name="Text 262"/>
          <p:cNvSpPr txBox="1"/>
          <p:nvPr/>
        </p:nvSpPr>
        <p:spPr>
          <a:xfrm>
            <a:off x="24734520" y="27934920"/>
            <a:ext cx="9939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own 2-layer boards · KiCad + Freerouting · 100 % routed · 0 unconnected pads</a:t>
            </a:r>
            <a:endParaRPr lang="en-US" sz="1700" dirty="0"/>
          </a:p>
        </p:txBody>
      </p:sp>
      <p:sp>
        <p:nvSpPr>
          <p:cNvPr id="292" name="Shape 263"/>
          <p:cNvSpPr/>
          <p:nvPr/>
        </p:nvSpPr>
        <p:spPr>
          <a:xfrm>
            <a:off x="1051560" y="28895040"/>
            <a:ext cx="8595360" cy="5623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293" name="Shape 264"/>
          <p:cNvSpPr/>
          <p:nvPr/>
        </p:nvSpPr>
        <p:spPr>
          <a:xfrm>
            <a:off x="1051560" y="28895040"/>
            <a:ext cx="859536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294" name="Shape 265"/>
          <p:cNvSpPr/>
          <p:nvPr/>
        </p:nvSpPr>
        <p:spPr>
          <a:xfrm>
            <a:off x="1051560" y="288950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95" name="Text 266"/>
          <p:cNvSpPr txBox="1"/>
          <p:nvPr/>
        </p:nvSpPr>
        <p:spPr>
          <a:xfrm>
            <a:off x="1051560" y="288950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296" name="Text 267"/>
          <p:cNvSpPr txBox="1"/>
          <p:nvPr/>
        </p:nvSpPr>
        <p:spPr>
          <a:xfrm>
            <a:off x="2377440" y="28895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BUDGET</a:t>
            </a:r>
            <a:endParaRPr lang="en-US" sz="3200" dirty="0"/>
          </a:p>
        </p:txBody>
      </p:sp>
      <p:graphicFrame>
        <p:nvGraphicFramePr>
          <p:cNvPr id="297" name="Chart 1" descr=""/>
          <p:cNvGraphicFramePr/>
          <p:nvPr/>
        </p:nvGraphicFramePr>
        <p:xfrm>
          <a:off x="1234440" y="29946600"/>
          <a:ext cx="82296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7"/>
          </a:graphicData>
        </a:graphic>
      </p:graphicFrame>
      <p:sp>
        <p:nvSpPr>
          <p:cNvPr id="298" name="Text 268"/>
          <p:cNvSpPr txBox="1"/>
          <p:nvPr/>
        </p:nvSpPr>
        <p:spPr>
          <a:xfrm>
            <a:off x="1325880" y="33741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one charge; a shift is 12 h. *duty-cycled radio. Repeater ≈ 3.7 W on mine power.</a:t>
            </a:r>
            <a:endParaRPr lang="en-US" sz="1600" dirty="0"/>
          </a:p>
        </p:txBody>
      </p:sp>
      <p:sp>
        <p:nvSpPr>
          <p:cNvPr id="299" name="Shape 269"/>
          <p:cNvSpPr/>
          <p:nvPr/>
        </p:nvSpPr>
        <p:spPr>
          <a:xfrm>
            <a:off x="10058400" y="28895040"/>
            <a:ext cx="8229600" cy="5623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300" name="Shape 270"/>
          <p:cNvSpPr/>
          <p:nvPr/>
        </p:nvSpPr>
        <p:spPr>
          <a:xfrm>
            <a:off x="10058400" y="28895040"/>
            <a:ext cx="822960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301" name="Shape 271"/>
          <p:cNvSpPr/>
          <p:nvPr/>
        </p:nvSpPr>
        <p:spPr>
          <a:xfrm>
            <a:off x="10058400" y="288950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2" name="Text 272"/>
          <p:cNvSpPr txBox="1"/>
          <p:nvPr/>
        </p:nvSpPr>
        <p:spPr>
          <a:xfrm>
            <a:off x="10058400" y="288950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03" name="Text 273"/>
          <p:cNvSpPr txBox="1"/>
          <p:nvPr/>
        </p:nvSpPr>
        <p:spPr>
          <a:xfrm>
            <a:off x="11384280" y="28895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3200" dirty="0"/>
          </a:p>
        </p:txBody>
      </p:sp>
      <p:graphicFrame>
        <p:nvGraphicFramePr>
          <p:cNvPr id="304" name="Chart 2" descr=""/>
          <p:cNvGraphicFramePr/>
          <p:nvPr/>
        </p:nvGraphicFramePr>
        <p:xfrm>
          <a:off x="10378440" y="299008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8"/>
          </a:graphicData>
        </a:graphic>
      </p:graphicFrame>
      <p:sp>
        <p:nvSpPr>
          <p:cNvPr id="305" name="Text 274"/>
          <p:cNvSpPr txBox="1"/>
          <p:nvPr/>
        </p:nvSpPr>
        <p:spPr>
          <a:xfrm>
            <a:off x="11155680" y="30998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₹12.8k</a:t>
            </a:r>
            <a:endParaRPr lang="en-US" sz="24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suit</a:t>
            </a:r>
            <a:endParaRPr lang="en-US" sz="2400" dirty="0"/>
          </a:p>
        </p:txBody>
      </p:sp>
      <p:sp>
        <p:nvSpPr>
          <p:cNvPr id="306" name="Shape 275"/>
          <p:cNvSpPr/>
          <p:nvPr/>
        </p:nvSpPr>
        <p:spPr>
          <a:xfrm>
            <a:off x="14264640" y="30220920"/>
            <a:ext cx="292608" cy="292608"/>
          </a:xfrm>
          <a:prstGeom prst="rect">
            <a:avLst/>
          </a:prstGeom>
          <a:solidFill>
            <a:srgbClr val="2F5F9E"/>
          </a:solidFill>
          <a:ln w="12700">
            <a:solidFill>
              <a:srgbClr val="2F5F9E"/>
            </a:solidFill>
            <a:prstDash val="solid"/>
          </a:ln>
        </p:spPr>
      </p:sp>
      <p:sp>
        <p:nvSpPr>
          <p:cNvPr id="307" name="Text 276"/>
          <p:cNvSpPr txBox="1"/>
          <p:nvPr/>
        </p:nvSpPr>
        <p:spPr>
          <a:xfrm>
            <a:off x="14676120" y="30129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pod</a:t>
            </a:r>
            <a:endParaRPr lang="en-US" sz="1800" dirty="0"/>
          </a:p>
        </p:txBody>
      </p:sp>
      <p:sp>
        <p:nvSpPr>
          <p:cNvPr id="308" name="Text 277"/>
          <p:cNvSpPr txBox="1"/>
          <p:nvPr/>
        </p:nvSpPr>
        <p:spPr>
          <a:xfrm>
            <a:off x="16824960" y="30129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3,270</a:t>
            </a:r>
            <a:endParaRPr lang="en-US" sz="1800" dirty="0"/>
          </a:p>
        </p:txBody>
      </p:sp>
      <p:sp>
        <p:nvSpPr>
          <p:cNvPr id="309" name="Shape 278"/>
          <p:cNvSpPr/>
          <p:nvPr/>
        </p:nvSpPr>
        <p:spPr>
          <a:xfrm>
            <a:off x="14264640" y="30787848"/>
            <a:ext cx="292608" cy="292608"/>
          </a:xfrm>
          <a:prstGeom prst="rect">
            <a:avLst/>
          </a:prstGeom>
          <a:solidFill>
            <a:srgbClr val="8A949C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310" name="Text 279"/>
          <p:cNvSpPr txBox="1"/>
          <p:nvPr/>
        </p:nvSpPr>
        <p:spPr>
          <a:xfrm>
            <a:off x="14676120" y="30696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+ sensing</a:t>
            </a:r>
            <a:endParaRPr lang="en-US" sz="1800" dirty="0"/>
          </a:p>
        </p:txBody>
      </p:sp>
      <p:sp>
        <p:nvSpPr>
          <p:cNvPr id="311" name="Text 280"/>
          <p:cNvSpPr txBox="1"/>
          <p:nvPr/>
        </p:nvSpPr>
        <p:spPr>
          <a:xfrm>
            <a:off x="16824960" y="306964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3,040</a:t>
            </a:r>
            <a:endParaRPr lang="en-US" sz="1800" dirty="0"/>
          </a:p>
        </p:txBody>
      </p:sp>
      <p:sp>
        <p:nvSpPr>
          <p:cNvPr id="312" name="Shape 281"/>
          <p:cNvSpPr/>
          <p:nvPr/>
        </p:nvSpPr>
        <p:spPr>
          <a:xfrm>
            <a:off x="14264640" y="31354776"/>
            <a:ext cx="292608" cy="2926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3" name="Text 282"/>
          <p:cNvSpPr txBox="1"/>
          <p:nvPr/>
        </p:nvSpPr>
        <p:spPr>
          <a:xfrm>
            <a:off x="14676120" y="312633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pod</a:t>
            </a:r>
            <a:endParaRPr lang="en-US" sz="1800" dirty="0"/>
          </a:p>
        </p:txBody>
      </p:sp>
      <p:sp>
        <p:nvSpPr>
          <p:cNvPr id="314" name="Text 283"/>
          <p:cNvSpPr txBox="1"/>
          <p:nvPr/>
        </p:nvSpPr>
        <p:spPr>
          <a:xfrm>
            <a:off x="16824960" y="312633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2,790</a:t>
            </a:r>
            <a:endParaRPr lang="en-US" sz="1800" dirty="0"/>
          </a:p>
        </p:txBody>
      </p:sp>
      <p:sp>
        <p:nvSpPr>
          <p:cNvPr id="315" name="Shape 284"/>
          <p:cNvSpPr/>
          <p:nvPr/>
        </p:nvSpPr>
        <p:spPr>
          <a:xfrm>
            <a:off x="14264640" y="31921704"/>
            <a:ext cx="292608" cy="292608"/>
          </a:xfrm>
          <a:prstGeom prst="rect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316" name="Text 285"/>
          <p:cNvSpPr txBox="1"/>
          <p:nvPr/>
        </p:nvSpPr>
        <p:spPr>
          <a:xfrm>
            <a:off x="14676120" y="31830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pod</a:t>
            </a:r>
            <a:endParaRPr lang="en-US" sz="1800" dirty="0"/>
          </a:p>
        </p:txBody>
      </p:sp>
      <p:sp>
        <p:nvSpPr>
          <p:cNvPr id="317" name="Text 286"/>
          <p:cNvSpPr txBox="1"/>
          <p:nvPr/>
        </p:nvSpPr>
        <p:spPr>
          <a:xfrm>
            <a:off x="16824960" y="31830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2,260</a:t>
            </a:r>
            <a:endParaRPr lang="en-US" sz="1800" dirty="0"/>
          </a:p>
        </p:txBody>
      </p:sp>
      <p:sp>
        <p:nvSpPr>
          <p:cNvPr id="318" name="Shape 287"/>
          <p:cNvSpPr/>
          <p:nvPr/>
        </p:nvSpPr>
        <p:spPr>
          <a:xfrm>
            <a:off x="14264640" y="32488632"/>
            <a:ext cx="292608" cy="292608"/>
          </a:xfrm>
          <a:prstGeom prst="rect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319" name="Text 288"/>
          <p:cNvSpPr txBox="1"/>
          <p:nvPr/>
        </p:nvSpPr>
        <p:spPr>
          <a:xfrm>
            <a:off x="14676120" y="32397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cuff</a:t>
            </a:r>
            <a:endParaRPr lang="en-US" sz="1800" dirty="0"/>
          </a:p>
        </p:txBody>
      </p:sp>
      <p:sp>
        <p:nvSpPr>
          <p:cNvPr id="320" name="Text 289"/>
          <p:cNvSpPr txBox="1"/>
          <p:nvPr/>
        </p:nvSpPr>
        <p:spPr>
          <a:xfrm>
            <a:off x="16824960" y="32397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1,480</a:t>
            </a:r>
            <a:endParaRPr lang="en-US" sz="1800" dirty="0"/>
          </a:p>
        </p:txBody>
      </p:sp>
      <p:sp>
        <p:nvSpPr>
          <p:cNvPr id="321" name="Shape 290"/>
          <p:cNvSpPr/>
          <p:nvPr/>
        </p:nvSpPr>
        <p:spPr>
          <a:xfrm>
            <a:off x="10332720" y="33329880"/>
            <a:ext cx="7680960" cy="960120"/>
          </a:xfrm>
          <a:prstGeom prst="rect">
            <a:avLst/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sp>
        <p:nvSpPr>
          <p:cNvPr id="322" name="Text 291"/>
          <p:cNvSpPr txBox="1"/>
          <p:nvPr/>
        </p:nvSpPr>
        <p:spPr>
          <a:xfrm>
            <a:off x="10469880" y="333298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₹6,862</a:t>
            </a:r>
            <a:pPr algn="ctr" indent="0" marL="0">
              <a:buNone/>
            </a:pPr>
            <a:r>
              <a:rPr lang="en-US" sz="19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repeater   ·   </a:t>
            </a:r>
            <a:pPr algn="ctr" indent="0" marL="0">
              <a:buNone/>
            </a:pPr>
            <a:r>
              <a:rPr lang="en-US" sz="19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₹3.26 L</a:t>
            </a:r>
            <a:pPr algn="ctr" indent="0" marL="0">
              <a:buNone/>
            </a:pPr>
            <a:r>
              <a:rPr lang="en-US" sz="19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10 repeaters + 20 suits</a:t>
            </a:r>
            <a:endParaRPr lang="en-US" sz="1900" dirty="0"/>
          </a:p>
        </p:txBody>
      </p:sp>
      <p:sp>
        <p:nvSpPr>
          <p:cNvPr id="323" name="Shape 292"/>
          <p:cNvSpPr/>
          <p:nvPr/>
        </p:nvSpPr>
        <p:spPr>
          <a:xfrm>
            <a:off x="18699480" y="28895040"/>
            <a:ext cx="10332720" cy="5623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324" name="Shape 293"/>
          <p:cNvSpPr/>
          <p:nvPr/>
        </p:nvSpPr>
        <p:spPr>
          <a:xfrm>
            <a:off x="18699480" y="28895040"/>
            <a:ext cx="10332720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325" name="Shape 294"/>
          <p:cNvSpPr/>
          <p:nvPr/>
        </p:nvSpPr>
        <p:spPr>
          <a:xfrm>
            <a:off x="18699480" y="288950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26" name="Text 295"/>
          <p:cNvSpPr txBox="1"/>
          <p:nvPr/>
        </p:nvSpPr>
        <p:spPr>
          <a:xfrm>
            <a:off x="18699480" y="288950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327" name="Text 296"/>
          <p:cNvSpPr txBox="1"/>
          <p:nvPr/>
        </p:nvSpPr>
        <p:spPr>
          <a:xfrm>
            <a:off x="20025360" y="2889504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3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973800" y="30038040"/>
          <a:ext cx="97840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88620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criterion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8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DRC, 5 boards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unconnected pads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fit, 5 cases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collisions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budget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pod ≥ 12 h (21 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Repeater chain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self-forms, 3 /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+ local buzzer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at limit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5 % over 100 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1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latency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 s for 95 %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49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detection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90 %, ≤ 1 false / 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91440" marT="0" marB="0" anchor="ctr">
                    <a:lnL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49C"/>
                    </a:solidFill>
                  </a:tcPr>
                </a:tc>
              </a:tr>
            </a:tbl>
          </a:graphicData>
        </a:graphic>
      </p:graphicFrame>
      <p:sp>
        <p:nvSpPr>
          <p:cNvPr id="329" name="Shape 297"/>
          <p:cNvSpPr/>
          <p:nvPr/>
        </p:nvSpPr>
        <p:spPr>
          <a:xfrm>
            <a:off x="29443680" y="28895040"/>
            <a:ext cx="5504688" cy="5623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1C2"/>
            </a:solidFill>
            <a:prstDash val="solid"/>
          </a:ln>
        </p:spPr>
      </p:sp>
      <p:sp>
        <p:nvSpPr>
          <p:cNvPr id="330" name="Shape 298"/>
          <p:cNvSpPr/>
          <p:nvPr/>
        </p:nvSpPr>
        <p:spPr>
          <a:xfrm>
            <a:off x="29443680" y="28895040"/>
            <a:ext cx="5504688" cy="914400"/>
          </a:xfrm>
          <a:prstGeom prst="rect">
            <a:avLst/>
          </a:prstGeom>
          <a:solidFill>
            <a:srgbClr val="1B2329"/>
          </a:solidFill>
          <a:ln w="12700">
            <a:solidFill>
              <a:srgbClr val="1B2329"/>
            </a:solidFill>
            <a:prstDash val="solid"/>
          </a:ln>
        </p:spPr>
      </p:sp>
      <p:sp>
        <p:nvSpPr>
          <p:cNvPr id="331" name="Shape 299"/>
          <p:cNvSpPr/>
          <p:nvPr/>
        </p:nvSpPr>
        <p:spPr>
          <a:xfrm>
            <a:off x="29443680" y="28895040"/>
            <a:ext cx="105156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2" name="Text 300"/>
          <p:cNvSpPr txBox="1"/>
          <p:nvPr/>
        </p:nvSpPr>
        <p:spPr>
          <a:xfrm>
            <a:off x="29443680" y="288950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333" name="Text 301"/>
          <p:cNvSpPr txBox="1"/>
          <p:nvPr/>
        </p:nvSpPr>
        <p:spPr>
          <a:xfrm>
            <a:off x="30769560" y="2889504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34" name="Text 302"/>
          <p:cNvSpPr txBox="1"/>
          <p:nvPr/>
        </p:nvSpPr>
        <p:spPr>
          <a:xfrm>
            <a:off x="29718000" y="29992320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</a:t>
            </a:r>
            <a:pPr indent="0" marL="0">
              <a:buNone/>
            </a:pPr>
            <a:r>
              <a:rPr lang="en-US" sz="200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monitored, located and reachable</a:t>
            </a:r>
            <a:pPr indent="0" marL="0">
              <a:buNone/>
            </a:pPr>
            <a:r>
              <a:rPr lang="en-US" sz="20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whole shift, on hardware a small mine can install itself.</a:t>
            </a:r>
            <a:endParaRPr lang="en-US" sz="2000" dirty="0"/>
          </a:p>
        </p:txBody>
      </p:sp>
      <p:sp>
        <p:nvSpPr>
          <p:cNvPr id="335" name="Text 303"/>
          <p:cNvSpPr txBox="1"/>
          <p:nvPr/>
        </p:nvSpPr>
        <p:spPr>
          <a:xfrm>
            <a:off x="29718000" y="31272480"/>
            <a:ext cx="49560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V3 prototype: 3 repeaters, body unit, hub, 3D app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5 PCBs, 5 mine-rated cases, smart suit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B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LoRa backbone, certified gas sensors, mine trial</a:t>
            </a:r>
            <a:endParaRPr lang="en-US" sz="1800" dirty="0"/>
          </a:p>
        </p:txBody>
      </p:sp>
      <p:sp>
        <p:nvSpPr>
          <p:cNvPr id="336" name="Shape 304"/>
          <p:cNvSpPr/>
          <p:nvPr/>
        </p:nvSpPr>
        <p:spPr>
          <a:xfrm>
            <a:off x="29718000" y="33421320"/>
            <a:ext cx="1560576" cy="868680"/>
          </a:xfrm>
          <a:prstGeom prst="rect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337" name="Text 305"/>
          <p:cNvSpPr txBox="1"/>
          <p:nvPr/>
        </p:nvSpPr>
        <p:spPr>
          <a:xfrm>
            <a:off x="29718000" y="33421320"/>
            <a:ext cx="1560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2400" dirty="0"/>
          </a:p>
        </p:txBody>
      </p:sp>
      <p:sp>
        <p:nvSpPr>
          <p:cNvPr id="338" name="Shape 306"/>
          <p:cNvSpPr/>
          <p:nvPr/>
        </p:nvSpPr>
        <p:spPr>
          <a:xfrm>
            <a:off x="31415736" y="33421320"/>
            <a:ext cx="1560576" cy="868680"/>
          </a:xfrm>
          <a:prstGeom prst="rect">
            <a:avLst/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339" name="Text 307"/>
          <p:cNvSpPr txBox="1"/>
          <p:nvPr/>
        </p:nvSpPr>
        <p:spPr>
          <a:xfrm>
            <a:off x="31415736" y="33421320"/>
            <a:ext cx="1560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</a:t>
            </a:r>
            <a:endParaRPr lang="en-US" sz="2400" dirty="0"/>
          </a:p>
        </p:txBody>
      </p:sp>
      <p:sp>
        <p:nvSpPr>
          <p:cNvPr id="340" name="Shape 308"/>
          <p:cNvSpPr/>
          <p:nvPr/>
        </p:nvSpPr>
        <p:spPr>
          <a:xfrm>
            <a:off x="33113472" y="33421320"/>
            <a:ext cx="1560576" cy="86868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341" name="Text 309"/>
          <p:cNvSpPr txBox="1"/>
          <p:nvPr/>
        </p:nvSpPr>
        <p:spPr>
          <a:xfrm>
            <a:off x="33113472" y="33421320"/>
            <a:ext cx="1560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2400" dirty="0"/>
          </a:p>
        </p:txBody>
      </p:sp>
      <p:sp>
        <p:nvSpPr>
          <p:cNvPr id="342" name="Text 310"/>
          <p:cNvSpPr txBox="1"/>
          <p:nvPr/>
        </p:nvSpPr>
        <p:spPr>
          <a:xfrm>
            <a:off x="1051560" y="34628328"/>
            <a:ext cx="33896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</a:t>
            </a:r>
            <a:pPr indent="0" marL="0">
              <a:buNone/>
            </a:pPr>
            <a:r>
              <a:rPr lang="en-US" sz="17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Ministry of Mines data, ETV Bharat, Aug 2026 · [2] Coal Mines Regulations 2017, reg. 153 · [3] NIOSH Pocket Guide to Chemical Hazards · [4] Bandyopadhyay et al., Wireless Information and Safety System for Mines, JSIR 2009 · [5] IMU-assisted UWB positioning in underground coal mines, Micromachines 2023 · [6] Real-time PPE compliance detection (YOLO), Sustainability 2023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MineSafe — Avishkar poster</dc:title>
  <dc:subject>PptxGenJS Presentation</dc:subject>
  <dc:creator>PptxGenJS</dc:creator>
  <cp:lastModifiedBy>PptxGenJS</cp:lastModifiedBy>
  <cp:revision>1</cp:revision>
  <dcterms:created xsi:type="dcterms:W3CDTF">2026-10-26T01:27:37Z</dcterms:created>
  <dcterms:modified xsi:type="dcterms:W3CDTF">2026-10-26T01:27:37Z</dcterms:modified>
</cp:coreProperties>
</file>