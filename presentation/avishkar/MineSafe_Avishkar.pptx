
<file path=[Content_Types].xml><?xml version="1.0" encoding="utf-8"?>
<Types xmlns="http://schemas.openxmlformats.org/package/2006/content-types">
  <Default Extension="glb" ContentType="model/gltf.binary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329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B2329"/>
                </a:solidFill>
                <a:latin typeface="Calibri"/>
              </a:rPr>
              <a:t>Coal-mine deaths, India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Deaths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1B2329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41</c:v>
                </c:pt>
                <c:pt idx="1">
                  <c:v>49</c:v>
                </c:pt>
                <c:pt idx="2">
                  <c:v>51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600" u="none">
                  <a:solidFill>
                    <a:srgbClr val="1B2329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232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6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329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B2329"/>
                </a:solidFill>
                <a:latin typeface="Calibri"/>
              </a:rPr>
              <a:t>Hours on one charge (a shift is 12 h)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Battery life (h)</c:v>
                </c:pt>
              </c:strCache>
            </c:strRef>
          </c:tx>
          <c:spPr>
            <a:solidFill>
              <a:srgbClr val="F2A900"/>
            </a:solidFill>
            <a:effectLst/>
          </c:spPr>
          <c:invertIfNegative val="0"/>
          <c:dLbls>
            <c:numFmt formatCode="0&quot; h&quot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B2329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Repeater backup</c:v>
                  </c:pt>
                  <c:pt idx="1">
                    <c:v>Core pod</c:v>
                  </c:pt>
                  <c:pt idx="2">
                    <c:v>Helmet pod*</c:v>
                  </c:pt>
                  <c:pt idx="3">
                    <c:v>Boot pod*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</c:v>
                </c:pt>
                <c:pt idx="1">
                  <c:v>21</c:v>
                </c:pt>
                <c:pt idx="2">
                  <c:v>56</c:v>
                </c:pt>
                <c:pt idx="3">
                  <c:v>92</c:v>
                </c:pt>
              </c:numCache>
            </c:numRef>
          </c:val>
        </c:ser>
        <c:dLbls>
          <c:numFmt formatCode="0&quot; h&quot;" sourceLinked="0"/>
          <c:txPr>
            <a:bodyPr/>
            <a:lstStyle/>
            <a:p>
              <a:pPr>
                <a:defRPr b="1" i="0" strike="noStrike" sz="1400" u="none">
                  <a:solidFill>
                    <a:srgbClr val="1B2329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232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6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329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B2329"/>
                </a:solidFill>
                <a:latin typeface="Calibri"/>
              </a:rPr>
              <a:t>Where the repeater's 3.3 W goes (5 V rail)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Repeater power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8710A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F2A900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2F5F9E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8A949C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3 × MQ gas heaters</c:v>
                </c:pt>
                <c:pt idx="1">
                  <c:v>LED matrix</c:v>
                </c:pt>
                <c:pt idx="2">
                  <c:v>XIAO ESP32-C6 radio</c:v>
                </c:pt>
                <c:pt idx="3">
                  <c:v>Sensors + logic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2.25</c:v>
                </c:pt>
                <c:pt idx="1">
                  <c:v>0.6</c:v>
                </c:pt>
                <c:pt idx="2">
                  <c:v>0.45</c:v>
                </c:pt>
                <c:pt idx="3">
                  <c:v>0.03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200">
              <a:solidFill>
                <a:srgbClr val="1B232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329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B2329"/>
                </a:solidFill>
                <a:latin typeface="Calibri"/>
              </a:rPr>
              <a:t>One smart suit ≈ ₹12,800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Suit cost (₹)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F5F9E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8A949C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F2A900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E8710A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4"/>
            <c:bubble3D val="0"/>
            <c:spPr>
              <a:solidFill>
                <a:srgbClr val="1F7A6D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Boot pod</c:v>
                </c:pt>
                <c:pt idx="1">
                  <c:v>Fabric + sensing</c:v>
                </c:pt>
                <c:pt idx="2">
                  <c:v>Core pod</c:v>
                </c:pt>
                <c:pt idx="3">
                  <c:v>Helmet pod</c:v>
                </c:pt>
                <c:pt idx="4">
                  <c:v>Wrist cuff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3270</c:v>
                </c:pt>
                <c:pt idx="1">
                  <c:v>3040</c:v>
                </c:pt>
                <c:pt idx="2">
                  <c:v>2790</c:v>
                </c:pt>
                <c:pt idx="3">
                  <c:v>2260</c:v>
                </c:pt>
                <c:pt idx="4">
                  <c:v>1480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200">
              <a:solidFill>
                <a:srgbClr val="1B232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0:00–0:15. Say the slot number only — never your name or college. The suit on the right is a live 3D model: click and drag to turn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0:15–0:45. Source: Ministry of Mines data (ETV Bharat, Aug 2026). Every rescue shows the same gap: no last known position, no vitals, no way to tell each worker which way to 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0:45–1:10. Nine commercial products checked (July 2026). Do not claim to beat Leantegra on positioning — the point is the integration and the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1:10–1:45. Top: data flow left to right, alerts come back on the dashed path. Bottom: the worker's shift — the system runs on its own after the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1:45–2:10. Integrating acceleration drifts about 175 m a minute — that is why we count steps and reset at every repeater. V4 adds a foot IMU that measures each real stride.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2:10–2:30. Every hardware decision starts from a mine condition. The suit is never locked — removal is detected, never prevented.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2:30–3:00. Turn the 3D model to show the CH4 chimney on top and the downward-facing ports. The same board runs as main repeater or tunnel repeater.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3:00–3:25. Point at the power path: mine supply and battery are OR-ed by diodes, so a power cut never resets the repeater.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3:25–3:50. Turn the suit to show the helmet pod at the back and the boot pod on the right heel. Helmet and boot talk to the core over ESP-NOW; only the cuff is wired.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3:50–4:05. Turn one pod if time allows. Four pods because each body position does one job best: radio at head height, stride at the foot, screen at the wrist, battery at the chest.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4:05–4:30. Core pod ≈ 112 mA at 3.3 V → ≈ 21 h from 3000 mAh. Two-thirds of the repeater's power is the gas-sensor heaters — that is why gas is measured on the repeaters, not on the body.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4:30–4:55. Five criteria for every part: works underground, low cost, buyable in India, open library, upgradable to a certified part.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4:55–5:35. Be honest: V3 is in field calibration. Each field test has a numeric pass criterion; results are logged with screenshots and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5:35–6:20. End on cost and impact (20 of 100 marks are economic efficiency and social relevance). Stop by 6:45 — over 7:15 disqualifies.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V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201168"/>
            <a:ext cx="11731752" cy="6455664"/>
          </a:xfrm>
          <a:prstGeom prst="rect">
            <a:avLst/>
          </a:prstGeom>
          <a:ln w="15875">
            <a:solidFill>
              <a:srgbClr val="1B232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194560" y="274320"/>
            <a:ext cx="7799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Inter-University Avishkar Research Convention:  2026-27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Category:  Engineering &amp; Technology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223760" y="548640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Level:  UG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270248" y="6309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 No.:  __________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V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201168"/>
            <a:ext cx="11731752" cy="6455664"/>
          </a:xfrm>
          <a:prstGeom prst="rect">
            <a:avLst/>
          </a:prstGeom>
          <a:ln w="15875">
            <a:solidFill>
              <a:srgbClr val="1B232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194560" y="274320"/>
            <a:ext cx="7799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Inter-University Avishkar Research Convention:  2026-27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Category:  Engineering &amp; Technology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223760" y="548640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Level:  UG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270248" y="6309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 No.:  __________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1480" y="987552"/>
            <a:ext cx="82296" cy="457200"/>
          </a:xfrm>
          <a:prstGeom prst="rect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8" name="Text 6"/>
          <p:cNvSpPr/>
          <p:nvPr>
            <p:ph idx="106" type="title" hasCustomPrompt="1"/>
          </p:nvPr>
        </p:nvSpPr>
        <p:spPr>
          <a:xfrm>
            <a:off x="621792" y="914400"/>
            <a:ext cx="11155680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500" b="1" dirty="0">
                <a:solidFill>
                  <a:srgbClr val="1B23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093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093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.xml"/><Relationship Id="rId8" Type="http://schemas.microsoft.com/office/2017/06/relationships/model3d" Target="../media/model3d1.glb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Relationship Id="rId4" Type="http://schemas.microsoft.com/office/2017/06/relationships/model3d" Target="../media/model3d6.glb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9.xml"/><Relationship Id="rId9" Type="http://schemas.microsoft.com/office/2017/06/relationships/model3d" Target="../media/model3d7.glb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Relationship Id="rId7" Type="http://schemas.microsoft.com/office/2017/06/relationships/model3d" Target="../media/model3d2.glb"/><Relationship Id="rId8" Type="http://schemas.microsoft.com/office/2017/06/relationships/model3d" Target="../media/model3d3.glb"/><Relationship Id="rId9" Type="http://schemas.microsoft.com/office/2017/06/relationships/model3d" Target="../media/model3d4.glb"/><Relationship Id="rId10" Type="http://schemas.microsoft.com/office/2017/06/relationships/model3d" Target="../media/model3d5.glb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1005840"/>
            <a:ext cx="7315200" cy="5074920"/>
          </a:xfrm>
          <a:prstGeom prst="rect">
            <a:avLst/>
          </a:prstGeom>
          <a:solidFill>
            <a:srgbClr val="1B2329"/>
          </a:solidFill>
          <a:ln w="12700">
            <a:solidFill>
              <a:srgbClr val="1B232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1005840"/>
            <a:ext cx="128016" cy="5074920"/>
          </a:xfrm>
          <a:prstGeom prst="rect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371600"/>
            <a:ext cx="1005840" cy="1005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057400" y="128016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2A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MineSafe</a:t>
            </a:r>
            <a:endParaRPr lang="en-US" sz="6600" dirty="0"/>
          </a:p>
        </p:txBody>
      </p:sp>
      <p:sp>
        <p:nvSpPr>
          <p:cNvPr id="6" name="Text 3"/>
          <p:cNvSpPr txBox="1"/>
          <p:nvPr/>
        </p:nvSpPr>
        <p:spPr>
          <a:xfrm>
            <a:off x="868680" y="269748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Intelligent Safety Gear Compliance, Health Monitoring and Navigation System for Underground Miners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868680" y="4343400"/>
            <a:ext cx="2011680" cy="502920"/>
          </a:xfrm>
          <a:prstGeom prst="roundRect">
            <a:avLst>
              <a:gd name="adj" fmla="val 49091"/>
            </a:avLst>
          </a:prstGeom>
          <a:solidFill>
            <a:srgbClr val="2C3840"/>
          </a:solidFill>
          <a:ln w="15875">
            <a:solidFill>
              <a:srgbClr val="F2A900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" y="4462272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71600" y="43434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GPS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3063240" y="4343400"/>
            <a:ext cx="2011680" cy="502920"/>
          </a:xfrm>
          <a:prstGeom prst="roundRect">
            <a:avLst>
              <a:gd name="adj" fmla="val 49091"/>
            </a:avLst>
          </a:prstGeom>
          <a:solidFill>
            <a:srgbClr val="2C3840"/>
          </a:solidFill>
          <a:ln w="15875">
            <a:solidFill>
              <a:srgbClr val="F2A900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7832" y="4462272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566160" y="43434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internet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5257800" y="4343400"/>
            <a:ext cx="2011680" cy="502920"/>
          </a:xfrm>
          <a:prstGeom prst="roundRect">
            <a:avLst>
              <a:gd name="adj" fmla="val 49091"/>
            </a:avLst>
          </a:prstGeom>
          <a:solidFill>
            <a:srgbClr val="2C3840"/>
          </a:solidFill>
          <a:ln w="15875">
            <a:solidFill>
              <a:srgbClr val="F2A900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2392" y="4462272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760720" y="43434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cabling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868680" y="512064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D9D3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at the gate · monitored all shift · located without GPS · reachable in seconds</a:t>
            </a:r>
            <a:endParaRPr lang="en-US" sz="1500" dirty="0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7" name="Smart Suit" descr="3D model: Smart Suit - drag to rotate">
                <a:extLst>
                  <a:ext uri="{FF2B5EF4-FFF2-40B4-BE49-F238E27FC236}">
                    <a16:creationId xmlns:a16="http://schemas.microsoft.com/office/drawing/2014/main" id="{F2B38221-8F59-4119-A694-90C794579AD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8001000" y="960120"/>
              <a:ext cx="3749040" cy="5212080"/>
            </p:xfrm>
            <a:graphic>
              <a:graphicData uri="http://schemas.microsoft.com/office/drawing/2017/model3d">
                <am3d:model3d r:embed="rId8">
                  <am3d:spPr>
                    <a:xfrm>
                      <a:off x="0" y="0"/>
                      <a:ext cx="3749040" cy="5212080"/>
                    </a:xfrm>
                    <a:prstGeom prst="rect">
                      <a:avLst/>
                    </a:prstGeom>
                  </am3d:spPr>
                  <am3d:camera>
                    <am3d:pos x="0" y="0" z="51342246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55" d="1000000"/>
                    <am3d:preTrans dx="374781" dy="-17616604" dz="-1562401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52120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7" name="Render smart_suit" descr="3D model: smart suit (rotate with the mouse)">    </p:cNvPr>
              <p:cNvPicPr>
                <a:picLocks noChangeAspect="1"/>
              </p:cNvPicPr>
              <p:nvPr/>
            </p:nvPicPr>
            <p:blipFill>
              <a:blip r:embed="rId5"/>
              <a:srcRect l="0" r="0" t="0" b="0"/>
              <a:stretch/>
            </p:blipFill>
            <p:spPr>
              <a:xfrm>
                <a:off x="8001000" y="960120"/>
                <a:ext cx="3749040" cy="52120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6" type="title" hasCustomPrompt="1"/>
          </p:nvPr>
        </p:nvSpPr>
        <p:spPr>
          <a:xfrm>
            <a:off x="621792" y="914400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3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Underground, nobody knows who is where — or if they are alive</a:t>
            </a:r>
            <a:endParaRPr lang="en-US" sz="25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11480" y="1645920"/>
          <a:ext cx="356616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4160520" y="1691640"/>
            <a:ext cx="64008" cy="123444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343400" y="16459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141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4343400" y="240487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deaths, 2023–25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160520" y="3172968"/>
            <a:ext cx="64008" cy="1234440"/>
          </a:xfrm>
          <a:prstGeom prst="rect">
            <a:avLst/>
          </a:prstGeom>
          <a:solidFill>
            <a:srgbClr val="E8710A"/>
          </a:solidFill>
          <a:ln w="12700">
            <a:solidFill>
              <a:srgbClr val="E8710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343400" y="31272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871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355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4343400" y="38862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serious accidents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160520" y="4654296"/>
            <a:ext cx="64008" cy="1234440"/>
          </a:xfrm>
          <a:prstGeom prst="rect">
            <a:avLst/>
          </a:prstGeom>
          <a:solidFill>
            <a:srgbClr val="1B2329"/>
          </a:solidFill>
          <a:ln w="12700">
            <a:solidFill>
              <a:srgbClr val="1B232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343400" y="4608576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B23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12" name="Text 9"/>
          <p:cNvSpPr txBox="1"/>
          <p:nvPr/>
        </p:nvSpPr>
        <p:spPr>
          <a:xfrm>
            <a:off x="4343400" y="536752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or phone signal underground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720840" y="1645920"/>
            <a:ext cx="5056632" cy="1005840"/>
          </a:xfrm>
          <a:prstGeom prst="roundRect">
            <a:avLst>
              <a:gd name="adj" fmla="val 5455"/>
            </a:avLst>
          </a:prstGeom>
          <a:solidFill>
            <a:srgbClr val="F4F1EA"/>
          </a:solidFill>
          <a:ln w="6350">
            <a:solidFill>
              <a:srgbClr val="F4F1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949440" y="1773936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SLBC tunnel, Telangana · 2025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6949440" y="214884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trapped — ground radar needed to find them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720840" y="2770632"/>
            <a:ext cx="5056632" cy="1005840"/>
          </a:xfrm>
          <a:prstGeom prst="roundRect">
            <a:avLst>
              <a:gd name="adj" fmla="val 5455"/>
            </a:avLst>
          </a:prstGeom>
          <a:solidFill>
            <a:srgbClr val="F4F1EA"/>
          </a:solidFill>
          <a:ln w="635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949440" y="289864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Umrangso, Assam · 2025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6949440" y="327355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flooded mine, 150+ hour search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720840" y="3895344"/>
            <a:ext cx="5056632" cy="1005840"/>
          </a:xfrm>
          <a:prstGeom prst="roundRect">
            <a:avLst>
              <a:gd name="adj" fmla="val 5455"/>
            </a:avLst>
          </a:prstGeom>
          <a:solidFill>
            <a:srgbClr val="F4F1EA"/>
          </a:solidFill>
          <a:ln w="635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949440" y="402336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Kolihan, Rajasthan · 2024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949440" y="4398264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cage rope snapped, 15 trapped, 1 died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720840" y="5020056"/>
            <a:ext cx="5056632" cy="1005840"/>
          </a:xfrm>
          <a:prstGeom prst="roundRect">
            <a:avLst>
              <a:gd name="adj" fmla="val 5455"/>
            </a:avLst>
          </a:prstGeom>
          <a:solidFill>
            <a:srgbClr val="F4F1EA"/>
          </a:solidFill>
          <a:ln w="6350">
            <a:solidFill>
              <a:srgbClr val="F4F1E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949440" y="5148072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Ksan, Meghalaya · 2018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6949440" y="5522976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trapped, about 80-day search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093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6" type="title" hasCustomPrompt="1"/>
          </p:nvPr>
        </p:nvSpPr>
        <p:spPr>
          <a:xfrm>
            <a:off x="621792" y="914400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3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existing system combines kit check, vitals and GPS-free location</a:t>
            </a:r>
            <a:endParaRPr lang="en-US" sz="2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91640"/>
          <a:ext cx="1136599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234440"/>
                <a:gridCol w="1143000"/>
                <a:gridCol w="1234440"/>
                <a:gridCol w="1874520"/>
                <a:gridCol w="960120"/>
                <a:gridCol w="19019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8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Kit check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8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Vitals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8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 alert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8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GPS-free location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8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8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price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84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Teknovate MineGuard 360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E8710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E8710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B6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MineARC GuardIAN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E8710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8710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B6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Leantegra (UWB)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B6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Rajant Health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8710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E8710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E8710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B6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EasyM2M SmartKavach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E8710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B6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36Zero + Bodytrak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E8710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B6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MineSafe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A9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B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A9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B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A9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B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A9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B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A9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B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A9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₹6.9k / ₹12.8k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A900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11480" y="5440680"/>
            <a:ext cx="11365992" cy="685800"/>
          </a:xfrm>
          <a:prstGeom prst="roundRect">
            <a:avLst>
              <a:gd name="adj" fmla="val 8000"/>
            </a:avLst>
          </a:prstGeom>
          <a:solidFill>
            <a:srgbClr val="FFF6DB"/>
          </a:solidFill>
          <a:ln w="6350">
            <a:solidFill>
              <a:srgbClr val="FFF6D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54406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new:  </a:t>
            </a:r>
            <a:pPr indent="0" marL="0">
              <a:buNone/>
            </a:pPr>
            <a:r>
              <a:rPr lang="en-US" sz="1400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integrated network · location without GPS or new infrastructure · repeaters that are also exit signs · a suit that checks the kit all shift · small-mine price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093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6" type="title" hasCustomPrompt="1"/>
          </p:nvPr>
        </p:nvSpPr>
        <p:spPr>
          <a:xfrm>
            <a:off x="621792" y="914400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3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Methodology: one self-healing network from the gate to the control room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411480" y="1965960"/>
            <a:ext cx="2103120" cy="1325880"/>
          </a:xfrm>
          <a:prstGeom prst="roundRect">
            <a:avLst>
              <a:gd name="adj" fmla="val 5517"/>
            </a:avLst>
          </a:prstGeom>
          <a:solidFill>
            <a:srgbClr val="FFF6DB"/>
          </a:solidFill>
          <a:ln w="25400">
            <a:solidFill>
              <a:srgbClr val="F2A900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7592" y="2057400"/>
            <a:ext cx="310896" cy="31089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11480" y="240487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suit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84632" y="2734056"/>
            <a:ext cx="1956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pods: vitals, fall, kit, steps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2721254" y="1965960"/>
            <a:ext cx="150876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5875">
            <a:solidFill>
              <a:srgbClr val="1B2329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0186" y="2057400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721254" y="240487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REP-03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2794406" y="2734056"/>
            <a:ext cx="13624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· air · exit sign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436669" y="1965960"/>
            <a:ext cx="150876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5875">
            <a:solidFill>
              <a:srgbClr val="1B2329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5601" y="2057400"/>
            <a:ext cx="310896" cy="31089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436669" y="240487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REP-02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509821" y="2734056"/>
            <a:ext cx="13624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· air · exit sign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6152083" y="1965960"/>
            <a:ext cx="150876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5875">
            <a:solidFill>
              <a:srgbClr val="1B2329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1015" y="2057400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152083" y="240487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REP-01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6225235" y="2734056"/>
            <a:ext cx="13624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repeater</a:t>
            </a:r>
            <a:endParaRPr lang="en-US" sz="1150" dirty="0"/>
          </a:p>
        </p:txBody>
      </p:sp>
      <p:sp>
        <p:nvSpPr>
          <p:cNvPr id="19" name="Shape 13"/>
          <p:cNvSpPr/>
          <p:nvPr/>
        </p:nvSpPr>
        <p:spPr>
          <a:xfrm>
            <a:off x="7867498" y="1965960"/>
            <a:ext cx="2103120" cy="1325880"/>
          </a:xfrm>
          <a:prstGeom prst="roundRect">
            <a:avLst>
              <a:gd name="adj" fmla="val 5517"/>
            </a:avLst>
          </a:prstGeom>
          <a:solidFill>
            <a:srgbClr val="FFF6DB"/>
          </a:solidFill>
          <a:ln w="25400">
            <a:solidFill>
              <a:srgbClr val="F2A900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63610" y="2057400"/>
            <a:ext cx="310896" cy="310896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867498" y="240487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 laptop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7940650" y="2734056"/>
            <a:ext cx="1956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· AI kit check · evacuation planner</a:t>
            </a:r>
            <a:endParaRPr lang="en-US" sz="1150" dirty="0"/>
          </a:p>
        </p:txBody>
      </p:sp>
      <p:sp>
        <p:nvSpPr>
          <p:cNvPr id="23" name="Shape 16"/>
          <p:cNvSpPr/>
          <p:nvPr/>
        </p:nvSpPr>
        <p:spPr>
          <a:xfrm>
            <a:off x="10177272" y="1965960"/>
            <a:ext cx="16002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5875">
            <a:solidFill>
              <a:srgbClr val="1B2329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21924" y="2057400"/>
            <a:ext cx="310896" cy="310896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10177272" y="2404872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control app</a:t>
            </a:r>
            <a:endParaRPr lang="en-US" sz="1500" dirty="0"/>
          </a:p>
        </p:txBody>
      </p:sp>
      <p:sp>
        <p:nvSpPr>
          <p:cNvPr id="26" name="Text 18"/>
          <p:cNvSpPr txBox="1"/>
          <p:nvPr/>
        </p:nvSpPr>
        <p:spPr>
          <a:xfrm>
            <a:off x="10250424" y="2734056"/>
            <a:ext cx="1453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or phone</a:t>
            </a:r>
            <a:endParaRPr lang="en-US" sz="1150" dirty="0"/>
          </a:p>
        </p:txBody>
      </p:sp>
      <p:sp>
        <p:nvSpPr>
          <p:cNvPr id="27" name="Shape 19"/>
          <p:cNvSpPr/>
          <p:nvPr/>
        </p:nvSpPr>
        <p:spPr>
          <a:xfrm>
            <a:off x="2532888" y="2628900"/>
            <a:ext cx="170078" cy="0"/>
          </a:xfrm>
          <a:prstGeom prst="line">
            <a:avLst/>
          </a:prstGeom>
          <a:noFill/>
          <a:ln w="28575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28" name="Text 20"/>
          <p:cNvSpPr txBox="1"/>
          <p:nvPr/>
        </p:nvSpPr>
        <p:spPr>
          <a:xfrm>
            <a:off x="2240280" y="1691640"/>
            <a:ext cx="7552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71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ESP-NOW</a:t>
            </a:r>
            <a:endParaRPr lang="en-US" sz="1050" dirty="0"/>
          </a:p>
        </p:txBody>
      </p:sp>
      <p:sp>
        <p:nvSpPr>
          <p:cNvPr id="29" name="Shape 21"/>
          <p:cNvSpPr/>
          <p:nvPr/>
        </p:nvSpPr>
        <p:spPr>
          <a:xfrm>
            <a:off x="4248302" y="2628900"/>
            <a:ext cx="170078" cy="0"/>
          </a:xfrm>
          <a:prstGeom prst="line">
            <a:avLst/>
          </a:prstGeom>
          <a:noFill/>
          <a:ln w="28575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30" name="Text 22"/>
          <p:cNvSpPr txBox="1"/>
          <p:nvPr/>
        </p:nvSpPr>
        <p:spPr>
          <a:xfrm>
            <a:off x="3955694" y="1691640"/>
            <a:ext cx="7552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71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ESP-NOW</a:t>
            </a:r>
            <a:endParaRPr lang="en-US" sz="1050" dirty="0"/>
          </a:p>
        </p:txBody>
      </p:sp>
      <p:sp>
        <p:nvSpPr>
          <p:cNvPr id="31" name="Shape 23"/>
          <p:cNvSpPr/>
          <p:nvPr/>
        </p:nvSpPr>
        <p:spPr>
          <a:xfrm>
            <a:off x="5963717" y="2628900"/>
            <a:ext cx="170078" cy="0"/>
          </a:xfrm>
          <a:prstGeom prst="line">
            <a:avLst/>
          </a:prstGeom>
          <a:noFill/>
          <a:ln w="28575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32" name="Text 24"/>
          <p:cNvSpPr txBox="1"/>
          <p:nvPr/>
        </p:nvSpPr>
        <p:spPr>
          <a:xfrm>
            <a:off x="5671109" y="1691640"/>
            <a:ext cx="7552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71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ESP-NOW</a:t>
            </a:r>
            <a:endParaRPr lang="en-US" sz="1050" dirty="0"/>
          </a:p>
        </p:txBody>
      </p:sp>
      <p:sp>
        <p:nvSpPr>
          <p:cNvPr id="33" name="Shape 25"/>
          <p:cNvSpPr/>
          <p:nvPr/>
        </p:nvSpPr>
        <p:spPr>
          <a:xfrm>
            <a:off x="7679131" y="2628900"/>
            <a:ext cx="170078" cy="0"/>
          </a:xfrm>
          <a:prstGeom prst="line">
            <a:avLst/>
          </a:prstGeom>
          <a:noFill/>
          <a:ln w="28575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34" name="Text 26"/>
          <p:cNvSpPr txBox="1"/>
          <p:nvPr/>
        </p:nvSpPr>
        <p:spPr>
          <a:xfrm>
            <a:off x="7386523" y="1691640"/>
            <a:ext cx="7552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71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Wi-Fi</a:t>
            </a:r>
            <a:endParaRPr lang="en-US" sz="1050" dirty="0"/>
          </a:p>
        </p:txBody>
      </p:sp>
      <p:sp>
        <p:nvSpPr>
          <p:cNvPr id="35" name="Shape 27"/>
          <p:cNvSpPr/>
          <p:nvPr/>
        </p:nvSpPr>
        <p:spPr>
          <a:xfrm>
            <a:off x="9988906" y="2628900"/>
            <a:ext cx="170078" cy="0"/>
          </a:xfrm>
          <a:prstGeom prst="line">
            <a:avLst/>
          </a:prstGeom>
          <a:noFill/>
          <a:ln w="28575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36" name="Text 28"/>
          <p:cNvSpPr txBox="1"/>
          <p:nvPr/>
        </p:nvSpPr>
        <p:spPr>
          <a:xfrm>
            <a:off x="9696298" y="1691640"/>
            <a:ext cx="7552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71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Wi-Fi</a:t>
            </a:r>
            <a:endParaRPr lang="en-US" sz="1050" dirty="0"/>
          </a:p>
        </p:txBody>
      </p:sp>
      <p:sp>
        <p:nvSpPr>
          <p:cNvPr id="37" name="Shape 29"/>
          <p:cNvSpPr/>
          <p:nvPr/>
        </p:nvSpPr>
        <p:spPr>
          <a:xfrm>
            <a:off x="8919058" y="3291840"/>
            <a:ext cx="0" cy="256032"/>
          </a:xfrm>
          <a:prstGeom prst="line">
            <a:avLst/>
          </a:prstGeom>
          <a:noFill/>
          <a:ln w="22225">
            <a:solidFill>
              <a:srgbClr val="2F5F9E"/>
            </a:solidFill>
            <a:prstDash val="dash"/>
          </a:ln>
        </p:spPr>
      </p:sp>
      <p:sp>
        <p:nvSpPr>
          <p:cNvPr id="38" name="Shape 30"/>
          <p:cNvSpPr/>
          <p:nvPr/>
        </p:nvSpPr>
        <p:spPr>
          <a:xfrm flipH="1">
            <a:off x="1463040" y="3547872"/>
            <a:ext cx="7456018" cy="0"/>
          </a:xfrm>
          <a:prstGeom prst="line">
            <a:avLst/>
          </a:prstGeom>
          <a:noFill/>
          <a:ln w="22225">
            <a:solidFill>
              <a:srgbClr val="2F5F9E"/>
            </a:solidFill>
            <a:prstDash val="dash"/>
          </a:ln>
        </p:spPr>
      </p:sp>
      <p:sp>
        <p:nvSpPr>
          <p:cNvPr id="39" name="Shape 31"/>
          <p:cNvSpPr/>
          <p:nvPr/>
        </p:nvSpPr>
        <p:spPr>
          <a:xfrm flipV="1">
            <a:off x="1463040" y="3310128"/>
            <a:ext cx="0" cy="237744"/>
          </a:xfrm>
          <a:prstGeom prst="line">
            <a:avLst/>
          </a:prstGeom>
          <a:noFill/>
          <a:ln w="22225">
            <a:solidFill>
              <a:srgbClr val="2F5F9E"/>
            </a:solidFill>
            <a:prstDash val="dash"/>
            <a:tailEnd type="triangle"/>
          </a:ln>
        </p:spPr>
      </p:sp>
      <p:sp>
        <p:nvSpPr>
          <p:cNvPr id="40" name="Text 32"/>
          <p:cNvSpPr txBox="1"/>
          <p:nvPr/>
        </p:nvSpPr>
        <p:spPr>
          <a:xfrm>
            <a:off x="1737360" y="3584448"/>
            <a:ext cx="690737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2F5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and evacuation routes return down the same chain · data stays on site</a:t>
            </a:r>
            <a:endParaRPr lang="en-US" sz="1150" dirty="0"/>
          </a:p>
        </p:txBody>
      </p:sp>
      <p:sp>
        <p:nvSpPr>
          <p:cNvPr id="41" name="Text 33"/>
          <p:cNvSpPr txBox="1"/>
          <p:nvPr/>
        </p:nvSpPr>
        <p:spPr>
          <a:xfrm>
            <a:off x="411480" y="3959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WORKER'S SHIFT</a:t>
            </a:r>
            <a:endParaRPr lang="en-US" sz="1200" dirty="0"/>
          </a:p>
        </p:txBody>
      </p:sp>
      <p:sp>
        <p:nvSpPr>
          <p:cNvPr id="42" name="Shape 34"/>
          <p:cNvSpPr/>
          <p:nvPr/>
        </p:nvSpPr>
        <p:spPr>
          <a:xfrm>
            <a:off x="411480" y="4343400"/>
            <a:ext cx="1371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B2329"/>
            </a:solidFill>
            <a:prstDash val="solid"/>
          </a:ln>
        </p:spPr>
      </p:sp>
      <p:sp>
        <p:nvSpPr>
          <p:cNvPr id="43" name="Text 35"/>
          <p:cNvSpPr txBox="1"/>
          <p:nvPr/>
        </p:nvSpPr>
        <p:spPr>
          <a:xfrm>
            <a:off x="411480" y="44348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 up</a:t>
            </a:r>
            <a:endParaRPr lang="en-US" sz="1400" dirty="0"/>
          </a:p>
        </p:txBody>
      </p:sp>
      <p:sp>
        <p:nvSpPr>
          <p:cNvPr id="44" name="Text 36"/>
          <p:cNvSpPr txBox="1"/>
          <p:nvPr/>
        </p:nvSpPr>
        <p:spPr>
          <a:xfrm>
            <a:off x="466344" y="4745736"/>
            <a:ext cx="1261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 self-checks</a:t>
            </a:r>
            <a:endParaRPr lang="en-US" sz="1100" dirty="0"/>
          </a:p>
        </p:txBody>
      </p:sp>
      <p:sp>
        <p:nvSpPr>
          <p:cNvPr id="45" name="Shape 37"/>
          <p:cNvSpPr/>
          <p:nvPr/>
        </p:nvSpPr>
        <p:spPr>
          <a:xfrm>
            <a:off x="1924812" y="434340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B2329"/>
            </a:solidFill>
            <a:prstDash val="solid"/>
          </a:ln>
        </p:spPr>
      </p:sp>
      <p:sp>
        <p:nvSpPr>
          <p:cNvPr id="46" name="Text 38"/>
          <p:cNvSpPr txBox="1"/>
          <p:nvPr/>
        </p:nvSpPr>
        <p:spPr>
          <a:xfrm>
            <a:off x="1924812" y="443484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check</a:t>
            </a:r>
            <a:endParaRPr lang="en-US" sz="1400" dirty="0"/>
          </a:p>
        </p:txBody>
      </p:sp>
      <p:sp>
        <p:nvSpPr>
          <p:cNvPr id="47" name="Text 39"/>
          <p:cNvSpPr txBox="1"/>
          <p:nvPr/>
        </p:nvSpPr>
        <p:spPr>
          <a:xfrm>
            <a:off x="1979676" y="4745736"/>
            <a:ext cx="1581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card + YOLOv8 photo</a:t>
            </a:r>
            <a:endParaRPr lang="en-US" sz="1100" dirty="0"/>
          </a:p>
        </p:txBody>
      </p:sp>
      <p:sp>
        <p:nvSpPr>
          <p:cNvPr id="48" name="Shape 40"/>
          <p:cNvSpPr/>
          <p:nvPr/>
        </p:nvSpPr>
        <p:spPr>
          <a:xfrm>
            <a:off x="3758184" y="4251960"/>
            <a:ext cx="1234440" cy="1097280"/>
          </a:xfrm>
          <a:prstGeom prst="diamond">
            <a:avLst/>
          </a:prstGeom>
          <a:solidFill>
            <a:srgbClr val="F2A900"/>
          </a:solidFill>
          <a:ln w="15875">
            <a:solidFill>
              <a:srgbClr val="1B2329"/>
            </a:solidFill>
            <a:prstDash val="solid"/>
          </a:ln>
        </p:spPr>
      </p:sp>
      <p:sp>
        <p:nvSpPr>
          <p:cNvPr id="49" name="Text 41"/>
          <p:cNvSpPr txBox="1"/>
          <p:nvPr/>
        </p:nvSpPr>
        <p:spPr>
          <a:xfrm>
            <a:off x="3758184" y="4251960"/>
            <a:ext cx="1234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 OK?</a:t>
            </a:r>
            <a:endParaRPr lang="en-US" sz="1300" dirty="0"/>
          </a:p>
        </p:txBody>
      </p:sp>
      <p:sp>
        <p:nvSpPr>
          <p:cNvPr id="50" name="Shape 42"/>
          <p:cNvSpPr/>
          <p:nvPr/>
        </p:nvSpPr>
        <p:spPr>
          <a:xfrm>
            <a:off x="5134356" y="43434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B2329"/>
            </a:solidFill>
            <a:prstDash val="solid"/>
          </a:ln>
        </p:spPr>
      </p:sp>
      <p:sp>
        <p:nvSpPr>
          <p:cNvPr id="51" name="Text 43"/>
          <p:cNvSpPr txBox="1"/>
          <p:nvPr/>
        </p:nvSpPr>
        <p:spPr>
          <a:xfrm>
            <a:off x="5134356" y="443484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Underground</a:t>
            </a:r>
            <a:endParaRPr lang="en-US" sz="1400" dirty="0"/>
          </a:p>
        </p:txBody>
      </p:sp>
      <p:sp>
        <p:nvSpPr>
          <p:cNvPr id="52" name="Text 44"/>
          <p:cNvSpPr txBox="1"/>
          <p:nvPr/>
        </p:nvSpPr>
        <p:spPr>
          <a:xfrm>
            <a:off x="5189220" y="4745736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vitals · steps · gas, 1 / s</a:t>
            </a:r>
            <a:endParaRPr lang="en-US" sz="1100" dirty="0"/>
          </a:p>
        </p:txBody>
      </p:sp>
      <p:sp>
        <p:nvSpPr>
          <p:cNvPr id="53" name="Shape 45"/>
          <p:cNvSpPr/>
          <p:nvPr/>
        </p:nvSpPr>
        <p:spPr>
          <a:xfrm>
            <a:off x="7104888" y="4251960"/>
            <a:ext cx="1234440" cy="1097280"/>
          </a:xfrm>
          <a:prstGeom prst="diamond">
            <a:avLst/>
          </a:prstGeom>
          <a:solidFill>
            <a:srgbClr val="F2A900"/>
          </a:solidFill>
          <a:ln w="15875">
            <a:solidFill>
              <a:srgbClr val="1B2329"/>
            </a:solidFill>
            <a:prstDash val="solid"/>
          </a:ln>
        </p:spPr>
      </p:sp>
      <p:sp>
        <p:nvSpPr>
          <p:cNvPr id="54" name="Text 46"/>
          <p:cNvSpPr txBox="1"/>
          <p:nvPr/>
        </p:nvSpPr>
        <p:spPr>
          <a:xfrm>
            <a:off x="7104888" y="4251960"/>
            <a:ext cx="1234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Alarm?</a:t>
            </a:r>
            <a:endParaRPr lang="en-US" sz="1300" dirty="0"/>
          </a:p>
        </p:txBody>
      </p:sp>
      <p:sp>
        <p:nvSpPr>
          <p:cNvPr id="55" name="Shape 47"/>
          <p:cNvSpPr/>
          <p:nvPr/>
        </p:nvSpPr>
        <p:spPr>
          <a:xfrm>
            <a:off x="8481060" y="4343400"/>
            <a:ext cx="1783080" cy="914400"/>
          </a:xfrm>
          <a:prstGeom prst="roundRect">
            <a:avLst>
              <a:gd name="adj" fmla="val 8000"/>
            </a:avLst>
          </a:prstGeom>
          <a:solidFill>
            <a:srgbClr val="FBE3E6"/>
          </a:solidFill>
          <a:ln w="15875">
            <a:solidFill>
              <a:srgbClr val="C8102E"/>
            </a:solidFill>
            <a:prstDash val="solid"/>
          </a:ln>
        </p:spPr>
      </p:sp>
      <p:sp>
        <p:nvSpPr>
          <p:cNvPr id="56" name="Text 48"/>
          <p:cNvSpPr txBox="1"/>
          <p:nvPr/>
        </p:nvSpPr>
        <p:spPr>
          <a:xfrm>
            <a:off x="8481060" y="4434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+ route</a:t>
            </a:r>
            <a:endParaRPr lang="en-US" sz="1400" dirty="0"/>
          </a:p>
        </p:txBody>
      </p:sp>
      <p:sp>
        <p:nvSpPr>
          <p:cNvPr id="57" name="Text 49"/>
          <p:cNvSpPr txBox="1"/>
          <p:nvPr/>
        </p:nvSpPr>
        <p:spPr>
          <a:xfrm>
            <a:off x="8535924" y="4745736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signs, cuff, voice</a:t>
            </a:r>
            <a:endParaRPr lang="en-US" sz="1100" dirty="0"/>
          </a:p>
        </p:txBody>
      </p:sp>
      <p:sp>
        <p:nvSpPr>
          <p:cNvPr id="58" name="Shape 50"/>
          <p:cNvSpPr/>
          <p:nvPr/>
        </p:nvSpPr>
        <p:spPr>
          <a:xfrm>
            <a:off x="10405872" y="4343400"/>
            <a:ext cx="1371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B2329"/>
            </a:solidFill>
            <a:prstDash val="solid"/>
          </a:ln>
        </p:spPr>
      </p:sp>
      <p:sp>
        <p:nvSpPr>
          <p:cNvPr id="59" name="Text 51"/>
          <p:cNvSpPr txBox="1"/>
          <p:nvPr/>
        </p:nvSpPr>
        <p:spPr>
          <a:xfrm>
            <a:off x="10405872" y="44348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scan</a:t>
            </a:r>
            <a:endParaRPr lang="en-US" sz="1400" dirty="0"/>
          </a:p>
        </p:txBody>
      </p:sp>
      <p:sp>
        <p:nvSpPr>
          <p:cNvPr id="60" name="Text 52"/>
          <p:cNvSpPr txBox="1"/>
          <p:nvPr/>
        </p:nvSpPr>
        <p:spPr>
          <a:xfrm>
            <a:off x="10460736" y="4745736"/>
            <a:ext cx="1261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 charges</a:t>
            </a:r>
            <a:endParaRPr lang="en-US" sz="1100" dirty="0"/>
          </a:p>
        </p:txBody>
      </p:sp>
      <p:sp>
        <p:nvSpPr>
          <p:cNvPr id="61" name="Shape 53"/>
          <p:cNvSpPr/>
          <p:nvPr/>
        </p:nvSpPr>
        <p:spPr>
          <a:xfrm>
            <a:off x="1801368" y="4800600"/>
            <a:ext cx="105156" cy="0"/>
          </a:xfrm>
          <a:prstGeom prst="line">
            <a:avLst/>
          </a:prstGeom>
          <a:noFill/>
          <a:ln w="22225">
            <a:solidFill>
              <a:srgbClr val="1B2329"/>
            </a:solidFill>
            <a:prstDash val="solid"/>
            <a:tailEnd type="triangle"/>
          </a:ln>
        </p:spPr>
      </p:sp>
      <p:sp>
        <p:nvSpPr>
          <p:cNvPr id="62" name="Shape 54"/>
          <p:cNvSpPr/>
          <p:nvPr/>
        </p:nvSpPr>
        <p:spPr>
          <a:xfrm>
            <a:off x="3634740" y="4800600"/>
            <a:ext cx="105156" cy="0"/>
          </a:xfrm>
          <a:prstGeom prst="line">
            <a:avLst/>
          </a:prstGeom>
          <a:noFill/>
          <a:ln w="22225">
            <a:solidFill>
              <a:srgbClr val="1B2329"/>
            </a:solidFill>
            <a:prstDash val="solid"/>
            <a:tailEnd type="triangle"/>
          </a:ln>
        </p:spPr>
      </p:sp>
      <p:sp>
        <p:nvSpPr>
          <p:cNvPr id="63" name="Shape 55"/>
          <p:cNvSpPr/>
          <p:nvPr/>
        </p:nvSpPr>
        <p:spPr>
          <a:xfrm>
            <a:off x="5010912" y="4800600"/>
            <a:ext cx="105156" cy="0"/>
          </a:xfrm>
          <a:prstGeom prst="line">
            <a:avLst/>
          </a:prstGeom>
          <a:noFill/>
          <a:ln w="22225">
            <a:solidFill>
              <a:srgbClr val="1B2329"/>
            </a:solidFill>
            <a:prstDash val="solid"/>
            <a:tailEnd type="triangle"/>
          </a:ln>
        </p:spPr>
      </p:sp>
      <p:sp>
        <p:nvSpPr>
          <p:cNvPr id="64" name="Shape 56"/>
          <p:cNvSpPr/>
          <p:nvPr/>
        </p:nvSpPr>
        <p:spPr>
          <a:xfrm>
            <a:off x="6981444" y="4800600"/>
            <a:ext cx="105156" cy="0"/>
          </a:xfrm>
          <a:prstGeom prst="line">
            <a:avLst/>
          </a:prstGeom>
          <a:noFill/>
          <a:ln w="22225">
            <a:solidFill>
              <a:srgbClr val="1B2329"/>
            </a:solidFill>
            <a:prstDash val="solid"/>
            <a:tailEnd type="triangle"/>
          </a:ln>
        </p:spPr>
      </p:sp>
      <p:sp>
        <p:nvSpPr>
          <p:cNvPr id="65" name="Shape 57"/>
          <p:cNvSpPr/>
          <p:nvPr/>
        </p:nvSpPr>
        <p:spPr>
          <a:xfrm>
            <a:off x="8357616" y="4800600"/>
            <a:ext cx="105156" cy="0"/>
          </a:xfrm>
          <a:prstGeom prst="line">
            <a:avLst/>
          </a:prstGeom>
          <a:noFill/>
          <a:ln w="22225">
            <a:solidFill>
              <a:srgbClr val="1B2329"/>
            </a:solidFill>
            <a:prstDash val="solid"/>
            <a:tailEnd type="triangle"/>
          </a:ln>
        </p:spPr>
      </p:sp>
      <p:sp>
        <p:nvSpPr>
          <p:cNvPr id="66" name="Shape 58"/>
          <p:cNvSpPr/>
          <p:nvPr/>
        </p:nvSpPr>
        <p:spPr>
          <a:xfrm>
            <a:off x="10282428" y="4800600"/>
            <a:ext cx="105156" cy="0"/>
          </a:xfrm>
          <a:prstGeom prst="line">
            <a:avLst/>
          </a:prstGeom>
          <a:noFill/>
          <a:ln w="22225">
            <a:solidFill>
              <a:srgbClr val="1B2329"/>
            </a:solidFill>
            <a:prstDash val="solid"/>
            <a:tailEnd type="triangle"/>
          </a:ln>
        </p:spPr>
      </p:sp>
      <p:sp>
        <p:nvSpPr>
          <p:cNvPr id="67" name="Text 59"/>
          <p:cNvSpPr txBox="1"/>
          <p:nvPr/>
        </p:nvSpPr>
        <p:spPr>
          <a:xfrm>
            <a:off x="4855464" y="4453128"/>
            <a:ext cx="4160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050" dirty="0"/>
          </a:p>
        </p:txBody>
      </p:sp>
      <p:sp>
        <p:nvSpPr>
          <p:cNvPr id="68" name="Text 60"/>
          <p:cNvSpPr txBox="1"/>
          <p:nvPr/>
        </p:nvSpPr>
        <p:spPr>
          <a:xfrm>
            <a:off x="8202168" y="4453128"/>
            <a:ext cx="4160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050" dirty="0"/>
          </a:p>
        </p:txBody>
      </p:sp>
      <p:sp>
        <p:nvSpPr>
          <p:cNvPr id="69" name="Shape 61"/>
          <p:cNvSpPr/>
          <p:nvPr/>
        </p:nvSpPr>
        <p:spPr>
          <a:xfrm>
            <a:off x="4375404" y="5330952"/>
            <a:ext cx="0" cy="219456"/>
          </a:xfrm>
          <a:prstGeom prst="line">
            <a:avLst/>
          </a:prstGeom>
          <a:noFill/>
          <a:ln w="22225">
            <a:solidFill>
              <a:srgbClr val="C8102E"/>
            </a:solidFill>
            <a:prstDash val="solid"/>
          </a:ln>
        </p:spPr>
      </p:sp>
      <p:sp>
        <p:nvSpPr>
          <p:cNvPr id="70" name="Shape 62"/>
          <p:cNvSpPr/>
          <p:nvPr/>
        </p:nvSpPr>
        <p:spPr>
          <a:xfrm flipH="1">
            <a:off x="1097280" y="5550408"/>
            <a:ext cx="3278124" cy="0"/>
          </a:xfrm>
          <a:prstGeom prst="line">
            <a:avLst/>
          </a:prstGeom>
          <a:noFill/>
          <a:ln w="22225">
            <a:solidFill>
              <a:srgbClr val="C8102E"/>
            </a:solidFill>
            <a:prstDash val="solid"/>
          </a:ln>
        </p:spPr>
      </p:sp>
      <p:sp>
        <p:nvSpPr>
          <p:cNvPr id="71" name="Shape 63"/>
          <p:cNvSpPr/>
          <p:nvPr/>
        </p:nvSpPr>
        <p:spPr>
          <a:xfrm flipV="1">
            <a:off x="1097280" y="5276088"/>
            <a:ext cx="0" cy="274320"/>
          </a:xfrm>
          <a:prstGeom prst="line">
            <a:avLst/>
          </a:prstGeom>
          <a:noFill/>
          <a:ln w="22225">
            <a:solidFill>
              <a:srgbClr val="C8102E"/>
            </a:solidFill>
            <a:prstDash val="solid"/>
            <a:tailEnd type="triangle"/>
          </a:ln>
        </p:spPr>
      </p:sp>
      <p:sp>
        <p:nvSpPr>
          <p:cNvPr id="72" name="Text 64"/>
          <p:cNvSpPr txBox="1"/>
          <p:nvPr/>
        </p:nvSpPr>
        <p:spPr>
          <a:xfrm>
            <a:off x="1207008" y="5577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→ rejected, fix kit</a:t>
            </a:r>
            <a:endParaRPr lang="en-US" sz="1100" dirty="0"/>
          </a:p>
        </p:txBody>
      </p:sp>
      <p:sp>
        <p:nvSpPr>
          <p:cNvPr id="73" name="Shape 65"/>
          <p:cNvSpPr/>
          <p:nvPr/>
        </p:nvSpPr>
        <p:spPr>
          <a:xfrm>
            <a:off x="7722108" y="5330952"/>
            <a:ext cx="0" cy="219456"/>
          </a:xfrm>
          <a:prstGeom prst="line">
            <a:avLst/>
          </a:prstGeom>
          <a:noFill/>
          <a:ln w="22225">
            <a:solidFill>
              <a:srgbClr val="2E8B57"/>
            </a:solidFill>
            <a:prstDash val="solid"/>
          </a:ln>
        </p:spPr>
      </p:sp>
      <p:sp>
        <p:nvSpPr>
          <p:cNvPr id="74" name="Shape 66"/>
          <p:cNvSpPr/>
          <p:nvPr/>
        </p:nvSpPr>
        <p:spPr>
          <a:xfrm flipH="1">
            <a:off x="6048756" y="5550408"/>
            <a:ext cx="1673352" cy="0"/>
          </a:xfrm>
          <a:prstGeom prst="line">
            <a:avLst/>
          </a:prstGeom>
          <a:noFill/>
          <a:ln w="22225">
            <a:solidFill>
              <a:srgbClr val="2E8B57"/>
            </a:solidFill>
            <a:prstDash val="solid"/>
          </a:ln>
        </p:spPr>
      </p:sp>
      <p:sp>
        <p:nvSpPr>
          <p:cNvPr id="75" name="Shape 67"/>
          <p:cNvSpPr/>
          <p:nvPr/>
        </p:nvSpPr>
        <p:spPr>
          <a:xfrm flipV="1">
            <a:off x="6048756" y="5276088"/>
            <a:ext cx="0" cy="274320"/>
          </a:xfrm>
          <a:prstGeom prst="line">
            <a:avLst/>
          </a:prstGeom>
          <a:noFill/>
          <a:ln w="22225">
            <a:solidFill>
              <a:srgbClr val="2E8B57"/>
            </a:solidFill>
            <a:prstDash val="solid"/>
            <a:tailEnd type="triangle"/>
          </a:ln>
        </p:spPr>
      </p:sp>
      <p:sp>
        <p:nvSpPr>
          <p:cNvPr id="76" name="Text 68"/>
          <p:cNvSpPr txBox="1"/>
          <p:nvPr/>
        </p:nvSpPr>
        <p:spPr>
          <a:xfrm>
            <a:off x="6158484" y="5577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→ keep monitoring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093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6" type="title" hasCustomPrompt="1"/>
          </p:nvPr>
        </p:nvSpPr>
        <p:spPr>
          <a:xfrm>
            <a:off x="621792" y="914400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3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Location without GPS, evacuation without guesswork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411480" y="1737360"/>
            <a:ext cx="502920" cy="502920"/>
          </a:xfrm>
          <a:prstGeom prst="ellipse">
            <a:avLst/>
          </a:prstGeom>
          <a:solidFill>
            <a:srgbClr val="1B2329"/>
          </a:solidFill>
          <a:ln w="12700">
            <a:solidFill>
              <a:srgbClr val="1B232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1148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2940" y="2258568"/>
            <a:ext cx="0" cy="557784"/>
          </a:xfrm>
          <a:prstGeom prst="line">
            <a:avLst/>
          </a:prstGeom>
          <a:noFill/>
          <a:ln w="19050">
            <a:solidFill>
              <a:srgbClr val="1B232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69164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steps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039112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× stride along the gyro heading; pressure gives the level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1480" y="2834640"/>
            <a:ext cx="502920" cy="502920"/>
          </a:xfrm>
          <a:prstGeom prst="ellipse">
            <a:avLst/>
          </a:prstGeom>
          <a:solidFill>
            <a:srgbClr val="1B2329"/>
          </a:solidFill>
          <a:ln w="12700">
            <a:solidFill>
              <a:srgbClr val="1B232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1480" y="2834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62940" y="3355848"/>
            <a:ext cx="0" cy="557784"/>
          </a:xfrm>
          <a:prstGeom prst="line">
            <a:avLst/>
          </a:prstGeom>
          <a:noFill/>
          <a:ln w="19050">
            <a:solidFill>
              <a:srgbClr val="1B232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97280" y="278892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 to the tunnel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136392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pulled onto the nearest tunnel on the mine map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11480" y="3931920"/>
            <a:ext cx="502920" cy="502920"/>
          </a:xfrm>
          <a:prstGeom prst="ellipse">
            <a:avLst/>
          </a:prstGeom>
          <a:solidFill>
            <a:srgbClr val="1B2329"/>
          </a:solidFill>
          <a:ln w="12700">
            <a:solidFill>
              <a:srgbClr val="1B232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3931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62940" y="4453128"/>
            <a:ext cx="0" cy="557784"/>
          </a:xfrm>
          <a:prstGeom prst="line">
            <a:avLst/>
          </a:prstGeom>
          <a:noFill/>
          <a:ln w="19050">
            <a:solidFill>
              <a:srgbClr val="1B232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388620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at repeaters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233672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≥ −55 dBm = next to that repeater: drift goes to zero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" y="5029200"/>
            <a:ext cx="502920" cy="502920"/>
          </a:xfrm>
          <a:prstGeom prst="ellipse">
            <a:avLst/>
          </a:prstGeom>
          <a:solidFill>
            <a:srgbClr val="1B2329"/>
          </a:solidFill>
          <a:ln w="12700">
            <a:solidFill>
              <a:srgbClr val="1B232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11480" y="5029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498348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around danger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5330952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Dijkstra from all exits; hazard tunnels cost 1000×; each exit sign shows arrow + metres</a:t>
            </a:r>
            <a:endParaRPr lang="en-US" sz="1300" dirty="0"/>
          </a:p>
        </p:txBody>
      </p:sp>
      <p:pic>
        <p:nvPicPr>
          <p:cNvPr id="22" name="Image 0" descr="3D control room during an evacu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691640"/>
            <a:ext cx="6382512" cy="3986784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5394960" y="5760720"/>
            <a:ext cx="6382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3D control app during an evacuation: routes go around the gas leak, exit signs update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093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6" type="title" hasCustomPrompt="1"/>
          </p:nvPr>
        </p:nvSpPr>
        <p:spPr>
          <a:xfrm>
            <a:off x="621792" y="914400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3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considerations: dust, water, methane, heat and blasting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411480" y="1691640"/>
            <a:ext cx="2724912" cy="2057400"/>
          </a:xfrm>
          <a:prstGeom prst="roundRect">
            <a:avLst>
              <a:gd name="adj" fmla="val 2667"/>
            </a:avLst>
          </a:prstGeom>
          <a:solidFill>
            <a:srgbClr val="F4F1EA"/>
          </a:solidFill>
          <a:ln w="6350">
            <a:solidFill>
              <a:srgbClr val="F4F1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12648" y="1892808"/>
            <a:ext cx="603504" cy="603504"/>
          </a:xfrm>
          <a:prstGeom prst="ellipse">
            <a:avLst/>
          </a:prstGeom>
          <a:solidFill>
            <a:srgbClr val="FFF6DB"/>
          </a:solidFill>
          <a:ln w="19050">
            <a:solidFill>
              <a:srgbClr val="F2A90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9559" y="2049719"/>
            <a:ext cx="289682" cy="28968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12648" y="260604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and dust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29718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IP65 gasket, drip hood, every opening faces down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91840" y="1691640"/>
            <a:ext cx="2724912" cy="2057400"/>
          </a:xfrm>
          <a:prstGeom prst="roundRect">
            <a:avLst>
              <a:gd name="adj" fmla="val 2667"/>
            </a:avLst>
          </a:prstGeom>
          <a:solidFill>
            <a:srgbClr val="F4F1EA"/>
          </a:solidFill>
          <a:ln w="6350">
            <a:solidFill>
              <a:srgbClr val="F4F1E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93008" y="1892808"/>
            <a:ext cx="603504" cy="603504"/>
          </a:xfrm>
          <a:prstGeom prst="ellipse">
            <a:avLst/>
          </a:prstGeom>
          <a:solidFill>
            <a:srgbClr val="FFF6DB"/>
          </a:solidFill>
          <a:ln w="19050">
            <a:solidFill>
              <a:srgbClr val="F2A90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9919" y="2049719"/>
            <a:ext cx="289682" cy="28968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93008" y="260604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Methane rises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493008" y="29718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CH₄ port on top under a rain chimney; H₂S / CO at the bottom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172200" y="1691640"/>
            <a:ext cx="2724912" cy="2057400"/>
          </a:xfrm>
          <a:prstGeom prst="roundRect">
            <a:avLst>
              <a:gd name="adj" fmla="val 2667"/>
            </a:avLst>
          </a:prstGeom>
          <a:solidFill>
            <a:srgbClr val="F4F1EA"/>
          </a:solidFill>
          <a:ln w="6350">
            <a:solidFill>
              <a:srgbClr val="F4F1EA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373368" y="1892808"/>
            <a:ext cx="603504" cy="603504"/>
          </a:xfrm>
          <a:prstGeom prst="ellipse">
            <a:avLst/>
          </a:prstGeom>
          <a:solidFill>
            <a:srgbClr val="FFF6DB"/>
          </a:solidFill>
          <a:ln w="19050">
            <a:solidFill>
              <a:srgbClr val="F2A90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0279" y="2049719"/>
            <a:ext cx="289682" cy="28968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73368" y="260604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Ignition risk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373368" y="29718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sintered flame-arrestor seat at every gas port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9052560" y="1691640"/>
            <a:ext cx="2724912" cy="2057400"/>
          </a:xfrm>
          <a:prstGeom prst="roundRect">
            <a:avLst>
              <a:gd name="adj" fmla="val 2667"/>
            </a:avLst>
          </a:prstGeom>
          <a:solidFill>
            <a:srgbClr val="F4F1EA"/>
          </a:solidFill>
          <a:ln w="6350">
            <a:solidFill>
              <a:srgbClr val="F4F1EA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253728" y="1892808"/>
            <a:ext cx="603504" cy="603504"/>
          </a:xfrm>
          <a:prstGeom prst="ellipse">
            <a:avLst/>
          </a:prstGeom>
          <a:solidFill>
            <a:srgbClr val="FFF6DB"/>
          </a:solidFill>
          <a:ln w="19050">
            <a:solidFill>
              <a:srgbClr val="F2A900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0639" y="2049719"/>
            <a:ext cx="289682" cy="28968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253728" y="260604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30–45 °C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253728" y="29718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sensor in its own chamber, away from heaters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411480" y="3931920"/>
            <a:ext cx="2724912" cy="2057400"/>
          </a:xfrm>
          <a:prstGeom prst="roundRect">
            <a:avLst>
              <a:gd name="adj" fmla="val 2667"/>
            </a:avLst>
          </a:prstGeom>
          <a:solidFill>
            <a:srgbClr val="F4F1EA"/>
          </a:solidFill>
          <a:ln w="6350">
            <a:solidFill>
              <a:srgbClr val="F4F1EA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12648" y="4133088"/>
            <a:ext cx="603504" cy="603504"/>
          </a:xfrm>
          <a:prstGeom prst="ellipse">
            <a:avLst/>
          </a:prstGeom>
          <a:solidFill>
            <a:srgbClr val="FFF6DB"/>
          </a:solidFill>
          <a:ln w="19050">
            <a:solidFill>
              <a:srgbClr val="F2A900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9559" y="4289999"/>
            <a:ext cx="289682" cy="28968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12648" y="484632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Blasting shock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612648" y="52120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screw bosses, latching connectors, rubber grommets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3291840" y="3931920"/>
            <a:ext cx="2724912" cy="2057400"/>
          </a:xfrm>
          <a:prstGeom prst="roundRect">
            <a:avLst>
              <a:gd name="adj" fmla="val 2667"/>
            </a:avLst>
          </a:prstGeom>
          <a:solidFill>
            <a:srgbClr val="F4F1EA"/>
          </a:solidFill>
          <a:ln w="6350">
            <a:solidFill>
              <a:srgbClr val="F4F1EA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3493008" y="4133088"/>
            <a:ext cx="603504" cy="603504"/>
          </a:xfrm>
          <a:prstGeom prst="ellipse">
            <a:avLst/>
          </a:prstGeom>
          <a:solidFill>
            <a:srgbClr val="FFF6DB"/>
          </a:solidFill>
          <a:ln w="19050">
            <a:solidFill>
              <a:srgbClr val="F2A900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49919" y="4289999"/>
            <a:ext cx="289682" cy="28968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3493008" y="484632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cuts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3493008" y="52120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 supply + battery, switch-over with no reset</a:t>
            </a:r>
            <a:endParaRPr lang="en-US" sz="1300" dirty="0"/>
          </a:p>
        </p:txBody>
      </p:sp>
      <p:sp>
        <p:nvSpPr>
          <p:cNvPr id="33" name="Shape 25"/>
          <p:cNvSpPr/>
          <p:nvPr/>
        </p:nvSpPr>
        <p:spPr>
          <a:xfrm>
            <a:off x="6172200" y="3931920"/>
            <a:ext cx="2724912" cy="2057400"/>
          </a:xfrm>
          <a:prstGeom prst="roundRect">
            <a:avLst>
              <a:gd name="adj" fmla="val 2667"/>
            </a:avLst>
          </a:prstGeom>
          <a:solidFill>
            <a:srgbClr val="F4F1EA"/>
          </a:solidFill>
          <a:ln w="6350">
            <a:solidFill>
              <a:srgbClr val="F4F1EA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6373368" y="4133088"/>
            <a:ext cx="603504" cy="603504"/>
          </a:xfrm>
          <a:prstGeom prst="ellipse">
            <a:avLst/>
          </a:prstGeom>
          <a:solidFill>
            <a:srgbClr val="FFF6DB"/>
          </a:solidFill>
          <a:ln w="19050">
            <a:solidFill>
              <a:srgbClr val="F2A900"/>
            </a:solidFill>
            <a:prstDash val="solid"/>
          </a:ln>
        </p:spPr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0279" y="4289999"/>
            <a:ext cx="289682" cy="289682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6373368" y="484632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and smoke</a:t>
            </a:r>
            <a:endParaRPr lang="en-US" sz="1600" dirty="0"/>
          </a:p>
        </p:txBody>
      </p:sp>
      <p:sp>
        <p:nvSpPr>
          <p:cNvPr id="37" name="Text 28"/>
          <p:cNvSpPr txBox="1"/>
          <p:nvPr/>
        </p:nvSpPr>
        <p:spPr>
          <a:xfrm>
            <a:off x="6373368" y="52120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 exit signs, reflective hi-vis tape</a:t>
            </a:r>
            <a:endParaRPr lang="en-US" sz="1300" dirty="0"/>
          </a:p>
        </p:txBody>
      </p:sp>
      <p:sp>
        <p:nvSpPr>
          <p:cNvPr id="38" name="Shape 29"/>
          <p:cNvSpPr/>
          <p:nvPr/>
        </p:nvSpPr>
        <p:spPr>
          <a:xfrm>
            <a:off x="9052560" y="3931920"/>
            <a:ext cx="2724912" cy="2057400"/>
          </a:xfrm>
          <a:prstGeom prst="roundRect">
            <a:avLst>
              <a:gd name="adj" fmla="val 2667"/>
            </a:avLst>
          </a:prstGeom>
          <a:solidFill>
            <a:srgbClr val="F4F1EA"/>
          </a:solidFill>
          <a:ln w="6350">
            <a:solidFill>
              <a:srgbClr val="F4F1EA"/>
            </a:solidFill>
            <a:prstDash val="solid"/>
          </a:ln>
        </p:spPr>
      </p:sp>
      <p:sp>
        <p:nvSpPr>
          <p:cNvPr id="39" name="Shape 30"/>
          <p:cNvSpPr/>
          <p:nvPr/>
        </p:nvSpPr>
        <p:spPr>
          <a:xfrm>
            <a:off x="9253728" y="4133088"/>
            <a:ext cx="603504" cy="603504"/>
          </a:xfrm>
          <a:prstGeom prst="ellipse">
            <a:avLst/>
          </a:prstGeom>
          <a:solidFill>
            <a:srgbClr val="FFF6DB"/>
          </a:solidFill>
          <a:ln w="19050">
            <a:solidFill>
              <a:srgbClr val="F2A900"/>
            </a:solidFill>
            <a:prstDash val="solid"/>
          </a:ln>
        </p:spPr>
      </p:sp>
      <p:pic>
        <p:nvPicPr>
          <p:cNvPr id="4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10639" y="4289999"/>
            <a:ext cx="289682" cy="289682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9253728" y="484632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 gloves</a:t>
            </a:r>
            <a:endParaRPr lang="en-US" sz="1600" dirty="0"/>
          </a:p>
        </p:txBody>
      </p:sp>
      <p:sp>
        <p:nvSpPr>
          <p:cNvPr id="42" name="Text 32"/>
          <p:cNvSpPr txBox="1"/>
          <p:nvPr/>
        </p:nvSpPr>
        <p:spPr>
          <a:xfrm>
            <a:off x="9253728" y="52120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16–22 mm buttons, vibration and voice alerts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093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6" type="title" hasCustomPrompt="1"/>
          </p:nvPr>
        </p:nvSpPr>
        <p:spPr>
          <a:xfrm>
            <a:off x="621792" y="914400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3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repeater is a radio relay, gas station and exit sign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411480" y="1645920"/>
            <a:ext cx="4572000" cy="4480560"/>
          </a:xfrm>
          <a:prstGeom prst="roundRect">
            <a:avLst>
              <a:gd name="adj" fmla="val 1224"/>
            </a:avLst>
          </a:prstGeom>
          <a:solidFill>
            <a:srgbClr val="F4F1EA"/>
          </a:solidFill>
          <a:ln w="6350">
            <a:solidFill>
              <a:srgbClr val="F4F1EA"/>
            </a:solidFill>
            <a:prstDash val="solid"/>
          </a:ln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Repeater Case" descr="3D model: Repeater Case - drag to rotate">
                <a:extLst>
                  <a:ext uri="{FF2B5EF4-FFF2-40B4-BE49-F238E27FC236}">
                    <a16:creationId xmlns:a16="http://schemas.microsoft.com/office/drawing/2014/main" id="{73BEDCAC-2D7E-4FA2-BAB8-1044CA6CAA2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548640" y="1691640"/>
              <a:ext cx="4297680" cy="4114800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4297680" cy="4114800"/>
                    </a:xfrm>
                    <a:prstGeom prst="rect">
                      <a:avLst/>
                    </a:prstGeom>
                  </am3d:spPr>
                  <am3d:camera>
                    <am3d:pos x="0" y="0" z="71120758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3424" d="1000000"/>
                    <am3d:preTrans dx="3414588" dy="88266" dz="-6310835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0" az="0"/>
                    <am3d:postTrans dx="0" dy="0" dz="0"/>
                  </am3d:trans>
                  <am3d:raster rName="Office3DRenderer" rVer="16.0.8326">
                    <am3d:blip r:embed="rId1"/>
                  </am3d:raster>
                  <am3d:objViewport viewportSz="42976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Render repeater_case" descr="3D model: repeater case (rotate with the mouse)">    </p:cNvPr>
              <p:cNvPicPr>
                <a:picLocks noChangeAspect="1"/>
              </p:cNvPicPr>
              <p:nvPr/>
            </p:nvPicPr>
            <p:blipFill>
              <a:blip r:embed="rId1"/>
              <a:srcRect l="0" r="0" t="0" b="0"/>
              <a:stretch/>
            </p:blipFill>
            <p:spPr>
              <a:xfrm>
                <a:off x="548640" y="1691640"/>
                <a:ext cx="4297680" cy="4114800"/>
              </a:xfrm>
              <a:prstGeom prst="rect">
                <a:avLst/>
              </a:prstGeom>
            </p:spPr>
          </p:pic>
        </mc:Fallback>
      </mc:AlternateContent>
      <p:sp>
        <p:nvSpPr>
          <p:cNvPr id="5" name="Text 2"/>
          <p:cNvSpPr txBox="1"/>
          <p:nvPr/>
        </p:nvSpPr>
        <p:spPr>
          <a:xfrm>
            <a:off x="411480" y="5806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model — click and drag to turn it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257800" y="1645920"/>
            <a:ext cx="6519672" cy="658368"/>
          </a:xfrm>
          <a:prstGeom prst="roundRect">
            <a:avLst>
              <a:gd name="adj" fmla="val 8333"/>
            </a:avLst>
          </a:prstGeom>
          <a:solidFill>
            <a:srgbClr val="F4F1EA"/>
          </a:solidFill>
          <a:ln w="15875">
            <a:solidFill>
              <a:srgbClr val="D8D1C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40680" y="1645920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675120" y="164592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MQ-4 CH₄ (top) · MQ-7 CO · MQ-136 H₂S (bottom), Indian limits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257800" y="2404872"/>
            <a:ext cx="6519672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D8D1C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40680" y="2404872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675120" y="2404872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temperature, humidity, wet-bulb limit 30.5 / 33.5 °C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257800" y="3163824"/>
            <a:ext cx="6519672" cy="658368"/>
          </a:xfrm>
          <a:prstGeom prst="roundRect">
            <a:avLst>
              <a:gd name="adj" fmla="val 8333"/>
            </a:avLst>
          </a:prstGeom>
          <a:solidFill>
            <a:srgbClr val="F4F1EA"/>
          </a:solidFill>
          <a:ln w="15875">
            <a:solidFill>
              <a:srgbClr val="D8D1C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40680" y="3163824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sign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6675120" y="316382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8×32 LED matrix: arrow + distance to the safe exit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257800" y="3922776"/>
            <a:ext cx="6519672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D8D1C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40680" y="3922776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675120" y="392277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 dB buzzer works even if the control room is down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257800" y="4681728"/>
            <a:ext cx="6519672" cy="658368"/>
          </a:xfrm>
          <a:prstGeom prst="roundRect">
            <a:avLst>
              <a:gd name="adj" fmla="val 8333"/>
            </a:avLst>
          </a:prstGeom>
          <a:solidFill>
            <a:srgbClr val="F4F1EA"/>
          </a:solidFill>
          <a:ln w="15875">
            <a:solidFill>
              <a:srgbClr val="D8D1C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40680" y="4681728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6675120" y="46817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9–30 V mine supply or battery, ≈ 3.7 W, ≈ 7 h backup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257800" y="5440680"/>
            <a:ext cx="6519672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D8D1C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40680" y="5440680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675120" y="544068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223 × 292 × 118 mm, IP65 target, rock-bolt / chain mount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093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6" type="title" hasCustomPrompt="1"/>
          </p:nvPr>
        </p:nvSpPr>
        <p:spPr>
          <a:xfrm>
            <a:off x="621792" y="914400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3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Electrical design: five own PCBs, 100 % routed, 0 errors</a:t>
            </a:r>
            <a:endParaRPr lang="en-US" sz="2500" dirty="0"/>
          </a:p>
        </p:txBody>
      </p:sp>
      <p:pic>
        <p:nvPicPr>
          <p:cNvPr id="3" name="Image 0" descr="Repeater PCB schemati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45920"/>
            <a:ext cx="6858000" cy="3429000"/>
          </a:xfrm>
          <a:prstGeom prst="rect">
            <a:avLst/>
          </a:prstGeom>
        </p:spPr>
      </p:pic>
      <p:pic>
        <p:nvPicPr>
          <p:cNvPr id="4" name="Image 1" descr="Repeater PCB top rend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645920"/>
            <a:ext cx="4279392" cy="320954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11480" y="5074920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Repeater schematic and board, 100 × 75 mm, 2 layers, through-hole</a:t>
            </a:r>
            <a:endParaRPr lang="en-US" sz="1100" dirty="0"/>
          </a:p>
        </p:txBody>
      </p:sp>
      <p:sp>
        <p:nvSpPr>
          <p:cNvPr id="6" name="Text 2"/>
          <p:cNvSpPr txBox="1"/>
          <p:nvPr/>
        </p:nvSpPr>
        <p:spPr>
          <a:xfrm>
            <a:off x="7498080" y="4873752"/>
            <a:ext cx="4279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KiCad 7 + Freerouting, generated by our own script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411480" y="5440680"/>
            <a:ext cx="141732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875">
            <a:solidFill>
              <a:srgbClr val="1B2329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411480" y="544068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 9–30 V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411480" y="5815584"/>
            <a:ext cx="141732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875">
            <a:solidFill>
              <a:srgbClr val="2F5F9E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11480" y="5815584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5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12 V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1828800" y="5596128"/>
            <a:ext cx="544068" cy="0"/>
          </a:xfrm>
          <a:prstGeom prst="line">
            <a:avLst/>
          </a:prstGeom>
          <a:noFill/>
          <a:ln w="22225">
            <a:solidFill>
              <a:srgbClr val="1B2329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1828800" y="5971032"/>
            <a:ext cx="544068" cy="0"/>
          </a:xfrm>
          <a:prstGeom prst="line">
            <a:avLst/>
          </a:prstGeom>
          <a:noFill/>
          <a:ln w="22225">
            <a:solidFill>
              <a:srgbClr val="2F5F9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2372868" y="544068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B2329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372868" y="549554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Diode OR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2372868" y="5806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reset on power cut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201668" y="5783580"/>
            <a:ext cx="544068" cy="0"/>
          </a:xfrm>
          <a:prstGeom prst="line">
            <a:avLst/>
          </a:prstGeom>
          <a:noFill/>
          <a:ln w="22225">
            <a:solidFill>
              <a:srgbClr val="1B2329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4745736" y="5440680"/>
            <a:ext cx="17373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B2329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745736" y="549554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 + TVS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4745736" y="58064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 A · 36 V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483096" y="5783580"/>
            <a:ext cx="544068" cy="0"/>
          </a:xfrm>
          <a:prstGeom prst="line">
            <a:avLst/>
          </a:prstGeom>
          <a:noFill/>
          <a:ln w="22225">
            <a:solidFill>
              <a:srgbClr val="1B2329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7027164" y="5440680"/>
            <a:ext cx="17373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B2329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027164" y="549554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V switcher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7027164" y="58064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A, ≈ 90 %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8764524" y="5783580"/>
            <a:ext cx="544068" cy="0"/>
          </a:xfrm>
          <a:prstGeom prst="line">
            <a:avLst/>
          </a:prstGeom>
          <a:noFill/>
          <a:ln w="22225">
            <a:solidFill>
              <a:srgbClr val="1B2329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9308592" y="5440680"/>
            <a:ext cx="2468880" cy="685800"/>
          </a:xfrm>
          <a:prstGeom prst="roundRect">
            <a:avLst>
              <a:gd name="adj" fmla="val 8000"/>
            </a:avLst>
          </a:prstGeom>
          <a:solidFill>
            <a:srgbClr val="FFF6DB"/>
          </a:solidFill>
          <a:ln w="15875">
            <a:solidFill>
              <a:srgbClr val="F2A900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9308592" y="549554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XIAO · 3 MQ · matrix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9308592" y="58064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3.7 W total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093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6" type="title" hasCustomPrompt="1"/>
          </p:nvPr>
        </p:nvSpPr>
        <p:spPr>
          <a:xfrm>
            <a:off x="621792" y="914400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3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V4 smart suit: the kit checks itself all shift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411480" y="1645920"/>
            <a:ext cx="3291840" cy="4480560"/>
          </a:xfrm>
          <a:prstGeom prst="roundRect">
            <a:avLst>
              <a:gd name="adj" fmla="val 1667"/>
            </a:avLst>
          </a:prstGeom>
          <a:solidFill>
            <a:srgbClr val="F4F1EA"/>
          </a:solidFill>
          <a:ln w="6350">
            <a:solidFill>
              <a:srgbClr val="F4F1EA"/>
            </a:solidFill>
            <a:prstDash val="solid"/>
          </a:ln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Smart Suit" descr="3D model: Smart Suit - drag to rotate">
                <a:extLst>
                  <a:ext uri="{FF2B5EF4-FFF2-40B4-BE49-F238E27FC236}">
                    <a16:creationId xmlns:a16="http://schemas.microsoft.com/office/drawing/2014/main" id="{3CB14FC6-B147-495C-8B6C-9C54E7DFBA3A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502920" y="1691640"/>
              <a:ext cx="3108960" cy="4389120"/>
            </p:xfrm>
            <a:graphic>
              <a:graphicData uri="http://schemas.microsoft.com/office/drawing/2017/model3d">
                <am3d:model3d r:embed="rId9">
                  <am3d:spPr>
                    <a:xfrm>
                      <a:off x="0" y="0"/>
                      <a:ext cx="3108960" cy="4389120"/>
                    </a:xfrm>
                    <a:prstGeom prst="rect">
                      <a:avLst/>
                    </a:prstGeom>
                  </am3d:spPr>
                  <am3d:camera>
                    <am3d:pos x="0" y="0" z="51342246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55" d="1000000"/>
                    <am3d:preTrans dx="374781" dy="-17616604" dz="-1562401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0" az="0"/>
                    <am3d:postTrans dx="0" dy="0" dz="0"/>
                  </am3d:trans>
                  <am3d:raster rName="Office3DRenderer" rVer="16.0.8326">
                    <am3d:blip r:embed="rId1"/>
                  </am3d:raster>
                  <am3d:objViewport viewportSz="43891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Render smart_suit" descr="3D model: smart suit (rotate with the mouse)">    </p:cNvPr>
              <p:cNvPicPr>
                <a:picLocks noChangeAspect="1"/>
              </p:cNvPicPr>
              <p:nvPr/>
            </p:nvPicPr>
            <p:blipFill>
              <a:blip r:embed="rId1"/>
              <a:srcRect l="0" r="0" t="0" b="0"/>
              <a:stretch/>
            </p:blipFill>
            <p:spPr>
              <a:xfrm>
                <a:off x="502920" y="1691640"/>
                <a:ext cx="3108960" cy="4389120"/>
              </a:xfrm>
              <a:prstGeom prst="rect">
                <a:avLst/>
              </a:prstGeom>
            </p:spPr>
          </p:pic>
        </mc:Fallback>
      </mc:AlternateContent>
      <p:sp>
        <p:nvSpPr>
          <p:cNvPr id="5" name="Shape 2"/>
          <p:cNvSpPr/>
          <p:nvPr/>
        </p:nvSpPr>
        <p:spPr>
          <a:xfrm>
            <a:off x="3977640" y="1737360"/>
            <a:ext cx="548640" cy="548640"/>
          </a:xfrm>
          <a:prstGeom prst="ellipse">
            <a:avLst/>
          </a:prstGeom>
          <a:solidFill>
            <a:srgbClr val="FFF6DB"/>
          </a:solidFill>
          <a:ln w="19050">
            <a:solidFill>
              <a:srgbClr val="F2A900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0286" y="1880006"/>
            <a:ext cx="263347" cy="26334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709160" y="1691640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pod · chest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4709160" y="2039112"/>
            <a:ext cx="7040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ESP32-C6, 3000 mAh, motion + pressure, guarded SOS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3977640" y="2523744"/>
            <a:ext cx="548640" cy="548640"/>
          </a:xfrm>
          <a:prstGeom prst="ellipse">
            <a:avLst/>
          </a:prstGeom>
          <a:solidFill>
            <a:srgbClr val="FFF6DB"/>
          </a:solidFill>
          <a:ln w="19050">
            <a:solidFill>
              <a:srgbClr val="F2A900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0286" y="2666390"/>
            <a:ext cx="263347" cy="26334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709160" y="2478024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Helmet pod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4709160" y="2825496"/>
            <a:ext cx="7040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antenna at head height, voice alerts, helmet-on switch</a:t>
            </a:r>
            <a:endParaRPr lang="en-US" sz="1350" dirty="0"/>
          </a:p>
        </p:txBody>
      </p:sp>
      <p:sp>
        <p:nvSpPr>
          <p:cNvPr id="13" name="Shape 8"/>
          <p:cNvSpPr/>
          <p:nvPr/>
        </p:nvSpPr>
        <p:spPr>
          <a:xfrm>
            <a:off x="3977640" y="3310128"/>
            <a:ext cx="548640" cy="548640"/>
          </a:xfrm>
          <a:prstGeom prst="ellipse">
            <a:avLst/>
          </a:prstGeom>
          <a:solidFill>
            <a:srgbClr val="FFF6DB"/>
          </a:solidFill>
          <a:ln w="19050">
            <a:solidFill>
              <a:srgbClr val="F2A900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0286" y="3452774"/>
            <a:ext cx="263347" cy="263347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709160" y="3264408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Wrist cuff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4709160" y="3611880"/>
            <a:ext cx="7040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screen, 3 glove buttons, vibration, heart rate + SpO₂</a:t>
            </a:r>
            <a:endParaRPr lang="en-US" sz="1350" dirty="0"/>
          </a:p>
        </p:txBody>
      </p:sp>
      <p:sp>
        <p:nvSpPr>
          <p:cNvPr id="17" name="Shape 11"/>
          <p:cNvSpPr/>
          <p:nvPr/>
        </p:nvSpPr>
        <p:spPr>
          <a:xfrm>
            <a:off x="3977640" y="4096512"/>
            <a:ext cx="548640" cy="548640"/>
          </a:xfrm>
          <a:prstGeom prst="ellipse">
            <a:avLst/>
          </a:prstGeom>
          <a:solidFill>
            <a:srgbClr val="FFF6DB"/>
          </a:solidFill>
          <a:ln w="19050">
            <a:solidFill>
              <a:srgbClr val="F2A900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20286" y="4239158"/>
            <a:ext cx="263347" cy="263347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4709160" y="4050792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 pod</a:t>
            </a:r>
            <a:endParaRPr lang="en-US" sz="1600" dirty="0"/>
          </a:p>
        </p:txBody>
      </p:sp>
      <p:sp>
        <p:nvSpPr>
          <p:cNvPr id="20" name="Text 13"/>
          <p:cNvSpPr txBox="1"/>
          <p:nvPr/>
        </p:nvSpPr>
        <p:spPr>
          <a:xfrm>
            <a:off x="4709160" y="4398264"/>
            <a:ext cx="7040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 IMU measures each real stride, heel force sensor</a:t>
            </a:r>
            <a:endParaRPr lang="en-US" sz="1350" dirty="0"/>
          </a:p>
        </p:txBody>
      </p:sp>
      <p:sp>
        <p:nvSpPr>
          <p:cNvPr id="21" name="Shape 14"/>
          <p:cNvSpPr/>
          <p:nvPr/>
        </p:nvSpPr>
        <p:spPr>
          <a:xfrm>
            <a:off x="3977640" y="4882896"/>
            <a:ext cx="548640" cy="548640"/>
          </a:xfrm>
          <a:prstGeom prst="ellipse">
            <a:avLst/>
          </a:prstGeom>
          <a:solidFill>
            <a:srgbClr val="FFF6DB"/>
          </a:solidFill>
          <a:ln w="19050">
            <a:solidFill>
              <a:srgbClr val="F2A900"/>
            </a:solidFill>
            <a:prstDash val="solid"/>
          </a:ln>
        </p:spPr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20286" y="5025542"/>
            <a:ext cx="263347" cy="263347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4709160" y="4837176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Seams and zip</a:t>
            </a:r>
            <a:endParaRPr lang="en-US" sz="1600" dirty="0"/>
          </a:p>
        </p:txBody>
      </p:sp>
      <p:sp>
        <p:nvSpPr>
          <p:cNvPr id="24" name="Text 16"/>
          <p:cNvSpPr txBox="1"/>
          <p:nvPr/>
        </p:nvSpPr>
        <p:spPr>
          <a:xfrm>
            <a:off x="4709160" y="5184648"/>
            <a:ext cx="7040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conductive thread + zip switch: torn or opened = alert</a:t>
            </a:r>
            <a:endParaRPr lang="en-US" sz="1350" dirty="0"/>
          </a:p>
        </p:txBody>
      </p:sp>
      <p:sp>
        <p:nvSpPr>
          <p:cNvPr id="25" name="Shape 17"/>
          <p:cNvSpPr/>
          <p:nvPr/>
        </p:nvSpPr>
        <p:spPr>
          <a:xfrm>
            <a:off x="3977640" y="5669280"/>
            <a:ext cx="7799832" cy="457200"/>
          </a:xfrm>
          <a:prstGeom prst="roundRect">
            <a:avLst>
              <a:gd name="adj" fmla="val 12000"/>
            </a:avLst>
          </a:prstGeom>
          <a:solidFill>
            <a:srgbClr val="FFF6DB"/>
          </a:solidFill>
          <a:ln w="15875">
            <a:solidFill>
              <a:srgbClr val="F2A900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4160520" y="566928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locked: removal or a tear is detected and reported, never prevented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093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6" type="title" hasCustomPrompt="1"/>
          </p:nvPr>
        </p:nvSpPr>
        <p:spPr>
          <a:xfrm>
            <a:off x="621792" y="914400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3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pods, each designed around its own board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411480" y="1645920"/>
            <a:ext cx="2724912" cy="4480560"/>
          </a:xfrm>
          <a:prstGeom prst="roundRect">
            <a:avLst>
              <a:gd name="adj" fmla="val 2013"/>
            </a:avLst>
          </a:prstGeom>
          <a:solidFill>
            <a:srgbClr val="F4F1EA"/>
          </a:solidFill>
          <a:ln w="6350">
            <a:solidFill>
              <a:srgbClr val="F4F1EA"/>
            </a:solidFill>
            <a:prstDash val="solid"/>
          </a:ln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Pod Core" descr="3D model: Pod Core - drag to rotate">
                <a:extLst>
                  <a:ext uri="{FF2B5EF4-FFF2-40B4-BE49-F238E27FC236}">
                    <a16:creationId xmlns:a16="http://schemas.microsoft.com/office/drawing/2014/main" id="{EF54AE8D-A644-4028-BAAB-1AEB0E55FEA5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502920" y="1737360"/>
              <a:ext cx="2542032" cy="3291840"/>
            </p:xfrm>
            <a:graphic>
              <a:graphicData uri="http://schemas.microsoft.com/office/drawing/2017/model3d">
                <am3d:model3d r:embed="rId7">
                  <am3d:spPr>
                    <a:xfrm>
                      <a:off x="0" y="0"/>
                      <a:ext cx="2542032" cy="3291840"/>
                    </a:xfrm>
                    <a:prstGeom prst="rect">
                      <a:avLst/>
                    </a:prstGeom>
                  </am3d:spPr>
                  <am3d:camera>
                    <am3d:pos x="0" y="0" z="7474940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984" d="1000000"/>
                    <am3d:preTrans dx="3464473" dy="-4471965" dz="-10116862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0" az="0"/>
                    <am3d:postTrans dx="0" dy="0" dz="0"/>
                  </am3d:trans>
                  <am3d:raster rName="Office3DRenderer" rVer="16.0.8326">
                    <am3d:blip r:embed="rId1"/>
                  </am3d:raster>
                  <am3d:objViewport viewportSz="32918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Render pod_core" descr="3D model: pod core (rotate with the mouse)">    </p:cNvPr>
              <p:cNvPicPr>
                <a:picLocks noChangeAspect="1"/>
              </p:cNvPicPr>
              <p:nvPr/>
            </p:nvPicPr>
            <p:blipFill>
              <a:blip r:embed="rId1"/>
              <a:srcRect l="0" r="0" t="0" b="0"/>
              <a:stretch/>
            </p:blipFill>
            <p:spPr>
              <a:xfrm>
                <a:off x="502920" y="1737360"/>
                <a:ext cx="2542032" cy="3291840"/>
              </a:xfrm>
              <a:prstGeom prst="rect">
                <a:avLst/>
              </a:prstGeom>
            </p:spPr>
          </p:pic>
        </mc:Fallback>
      </mc:AlternateContent>
      <p:sp>
        <p:nvSpPr>
          <p:cNvPr id="5" name="Text 2"/>
          <p:cNvSpPr txBox="1"/>
          <p:nvPr/>
        </p:nvSpPr>
        <p:spPr>
          <a:xfrm>
            <a:off x="411480" y="5074920"/>
            <a:ext cx="2724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pod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411480" y="5440680"/>
            <a:ext cx="272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 × 93 × 44 mm · 21 h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291840" y="1645920"/>
            <a:ext cx="2724912" cy="4480560"/>
          </a:xfrm>
          <a:prstGeom prst="roundRect">
            <a:avLst>
              <a:gd name="adj" fmla="val 2013"/>
            </a:avLst>
          </a:prstGeom>
          <a:solidFill>
            <a:srgbClr val="F4F1EA"/>
          </a:solidFill>
          <a:ln w="6350">
            <a:solidFill>
              <a:srgbClr val="F4F1EA"/>
            </a:solidFill>
            <a:prstDash val="solid"/>
          </a:ln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8" name="Pod Cuff" descr="3D model: Pod Cuff - drag to rotate">
                <a:extLst>
                  <a:ext uri="{FF2B5EF4-FFF2-40B4-BE49-F238E27FC236}">
                    <a16:creationId xmlns:a16="http://schemas.microsoft.com/office/drawing/2014/main" id="{60C19475-C698-40F7-B3CE-72DA4646995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383280" y="1737360"/>
              <a:ext cx="2542032" cy="3291840"/>
            </p:xfrm>
            <a:graphic>
              <a:graphicData uri="http://schemas.microsoft.com/office/drawing/2017/model3d">
                <am3d:model3d r:embed="rId8">
                  <am3d:spPr>
                    <a:xfrm>
                      <a:off x="0" y="0"/>
                      <a:ext cx="2542032" cy="3291840"/>
                    </a:xfrm>
                    <a:prstGeom prst="rect">
                      <a:avLst/>
                    </a:prstGeom>
                  </am3d:spPr>
                  <am3d:camera>
                    <am3d:pos x="0" y="0" z="74967105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790" d="1000000"/>
                    <am3d:preTrans dx="3466807" dy="-4654190" dz="-10308771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0" az="0"/>
                    <am3d:postTrans dx="0" dy="0" dz="0"/>
                  </am3d:trans>
                  <am3d:raster rName="Office3DRenderer" rVer="16.0.8326">
                    <am3d:blip r:embed="rId2"/>
                  </am3d:raster>
                  <am3d:objViewport viewportSz="32918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8" name="Render pod_cuff" descr="3D model: pod cuff (rotate with the mouse)">    </p:cNvPr>
              <p:cNvPicPr>
                <a:picLocks noChangeAspect="1"/>
              </p:cNvPicPr>
              <p:nvPr/>
            </p:nvPicPr>
            <p:blipFill>
              <a:blip r:embed="rId2"/>
              <a:srcRect l="0" r="0" t="0" b="0"/>
              <a:stretch/>
            </p:blipFill>
            <p:spPr>
              <a:xfrm>
                <a:off x="3383280" y="1737360"/>
                <a:ext cx="2542032" cy="3291840"/>
              </a:xfrm>
              <a:prstGeom prst="rect">
                <a:avLst/>
              </a:prstGeom>
            </p:spPr>
          </p:pic>
        </mc:Fallback>
      </mc:AlternateContent>
      <p:sp>
        <p:nvSpPr>
          <p:cNvPr id="9" name="Text 5"/>
          <p:cNvSpPr txBox="1"/>
          <p:nvPr/>
        </p:nvSpPr>
        <p:spPr>
          <a:xfrm>
            <a:off x="3291840" y="5074920"/>
            <a:ext cx="2724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Wrist cuff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3291840" y="5440680"/>
            <a:ext cx="272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 × 75 × 27 mm · wired to core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72200" y="1645920"/>
            <a:ext cx="2724912" cy="4480560"/>
          </a:xfrm>
          <a:prstGeom prst="roundRect">
            <a:avLst>
              <a:gd name="adj" fmla="val 2013"/>
            </a:avLst>
          </a:prstGeom>
          <a:solidFill>
            <a:srgbClr val="F4F1EA"/>
          </a:solidFill>
          <a:ln w="6350">
            <a:solidFill>
              <a:srgbClr val="F4F1EA"/>
            </a:solidFill>
            <a:prstDash val="solid"/>
          </a:ln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2" name="Pod Helmet" descr="3D model: Pod Helmet - drag to rotate">
                <a:extLst>
                  <a:ext uri="{FF2B5EF4-FFF2-40B4-BE49-F238E27FC236}">
                    <a16:creationId xmlns:a16="http://schemas.microsoft.com/office/drawing/2014/main" id="{C038D68F-7442-4DDC-9C3F-0C245A1A132A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263640" y="1737360"/>
              <a:ext cx="2542032" cy="3291840"/>
            </p:xfrm>
            <a:graphic>
              <a:graphicData uri="http://schemas.microsoft.com/office/drawing/2017/model3d">
                <am3d:model3d r:embed="rId9">
                  <am3d:spPr>
                    <a:xfrm>
                      <a:off x="0" y="0"/>
                      <a:ext cx="2542032" cy="3291840"/>
                    </a:xfrm>
                    <a:prstGeom prst="rect">
                      <a:avLst/>
                    </a:prstGeom>
                  </am3d:spPr>
                  <am3d:camera>
                    <am3d:pos x="0" y="0" z="71079806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910" d="1000000"/>
                    <am3d:preTrans dx="3475792" dy="-3261020" dz="-11659659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0" az="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32918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2" name="Render pod_helmet" descr="3D model: pod helmet (rotate with the mouse)">    </p:cNvPr>
              <p:cNvPicPr>
                <a:picLocks noChangeAspect="1"/>
              </p:cNvPicPr>
              <p:nvPr/>
            </p:nvPicPr>
            <p:blipFill>
              <a:blip r:embed="rId3"/>
              <a:srcRect l="0" r="0" t="0" b="0"/>
              <a:stretch/>
            </p:blipFill>
            <p:spPr>
              <a:xfrm>
                <a:off x="6263640" y="1737360"/>
                <a:ext cx="2542032" cy="3291840"/>
              </a:xfrm>
              <a:prstGeom prst="rect">
                <a:avLst/>
              </a:prstGeom>
            </p:spPr>
          </p:pic>
        </mc:Fallback>
      </mc:AlternateContent>
      <p:sp>
        <p:nvSpPr>
          <p:cNvPr id="13" name="Text 8"/>
          <p:cNvSpPr txBox="1"/>
          <p:nvPr/>
        </p:nvSpPr>
        <p:spPr>
          <a:xfrm>
            <a:off x="6172200" y="5074920"/>
            <a:ext cx="2724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Helmet pod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6172200" y="5440680"/>
            <a:ext cx="272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 × 66 × 31 mm · 56 h*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9052560" y="1645920"/>
            <a:ext cx="2724912" cy="4480560"/>
          </a:xfrm>
          <a:prstGeom prst="roundRect">
            <a:avLst>
              <a:gd name="adj" fmla="val 2013"/>
            </a:avLst>
          </a:prstGeom>
          <a:solidFill>
            <a:srgbClr val="F4F1EA"/>
          </a:solidFill>
          <a:ln w="6350">
            <a:solidFill>
              <a:srgbClr val="F4F1EA"/>
            </a:solidFill>
            <a:prstDash val="solid"/>
          </a:ln>
        </p:spPr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6" name="Pod Boot" descr="3D model: Pod Boot - drag to rotate">
                <a:extLst>
                  <a:ext uri="{FF2B5EF4-FFF2-40B4-BE49-F238E27FC236}">
                    <a16:creationId xmlns:a16="http://schemas.microsoft.com/office/drawing/2014/main" id="{85D313CF-9A93-4049-963A-A450C761858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9144000" y="1737360"/>
              <a:ext cx="2542032" cy="3291840"/>
            </p:xfrm>
            <a:graphic>
              <a:graphicData uri="http://schemas.microsoft.com/office/drawing/2017/model3d">
                <am3d:model3d r:embed="rId10">
                  <am3d:spPr>
                    <a:xfrm>
                      <a:off x="0" y="0"/>
                      <a:ext cx="2542032" cy="3291840"/>
                    </a:xfrm>
                    <a:prstGeom prst="rect">
                      <a:avLst/>
                    </a:prstGeom>
                  </am3d:spPr>
                  <am3d:camera>
                    <am3d:pos x="0" y="0" z="6981491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9093" d="1000000"/>
                    <am3d:preTrans dx="3580379" dy="-3282544" dz="-12209481"/>
                    <am3d:scale>
                      <am3d:sx n="1000000" d="1000000"/>
                      <am3d:sy n="1000000" d="1000000"/>
                      <am3d:sz n="1000000" d="1000000"/>
                    </am3d:scale>
                    <am3d:rot ax="0" ay="0" az="0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329184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6" name="Render pod_boot" descr="3D model: pod boot (rotate with the mouse)">    </p:cNvPr>
              <p:cNvPicPr>
                <a:picLocks noChangeAspect="1"/>
              </p:cNvPicPr>
              <p:nvPr/>
            </p:nvPicPr>
            <p:blipFill>
              <a:blip r:embed="rId4"/>
              <a:srcRect l="0" r="0" t="0" b="0"/>
              <a:stretch/>
            </p:blipFill>
            <p:spPr>
              <a:xfrm>
                <a:off x="9144000" y="1737360"/>
                <a:ext cx="2542032" cy="329184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Text 11"/>
          <p:cNvSpPr txBox="1"/>
          <p:nvPr/>
        </p:nvSpPr>
        <p:spPr>
          <a:xfrm>
            <a:off x="9052560" y="5074920"/>
            <a:ext cx="2724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 pod</a:t>
            </a:r>
            <a:endParaRPr lang="en-US" sz="1700" dirty="0"/>
          </a:p>
        </p:txBody>
      </p:sp>
      <p:sp>
        <p:nvSpPr>
          <p:cNvPr id="18" name="Text 12"/>
          <p:cNvSpPr txBox="1"/>
          <p:nvPr/>
        </p:nvSpPr>
        <p:spPr>
          <a:xfrm>
            <a:off x="9052560" y="5440680"/>
            <a:ext cx="272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 × 58 × 29 mm · 92 h*</a:t>
            </a:r>
            <a:endParaRPr 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411480" y="5833872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Lids lifted to show the board, battery and modules · every case fit-checked in CAD against its real KiCad board · *duty-cycled radio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093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6" type="title" hasCustomPrompt="1"/>
          </p:nvPr>
        </p:nvSpPr>
        <p:spPr>
          <a:xfrm>
            <a:off x="621792" y="914400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3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Energy budget: the core pod lasts almost two shifts</a:t>
            </a:r>
            <a:endParaRPr lang="en-US" sz="25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11480" y="1645920"/>
          <a:ext cx="585216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492240" y="1645920"/>
          <a:ext cx="5285232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11480" y="5788152"/>
            <a:ext cx="11365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radio duty-cycled (V4 firmware). Datasheet estimates, to be confirmed by measurement. 10 repeaters ≈ 0.9 kWh / day ≈ ₹7 / day.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093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6" type="title" hasCustomPrompt="1"/>
          </p:nvPr>
        </p:nvSpPr>
        <p:spPr>
          <a:xfrm>
            <a:off x="621792" y="914400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3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Component selection: every choice against an alternative</a:t>
            </a:r>
            <a:endParaRPr lang="en-US" sz="2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91640"/>
          <a:ext cx="11365992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331720"/>
                <a:gridCol w="2240280"/>
                <a:gridCol w="464515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8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Chosen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8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Instead of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8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84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85C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XIAO ESP32-C6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ESP32-S3, Arduino + radio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 mm board; Wi-Fi 6, BLE, Zigbee and ESP-NOW on one chip; ≈ ₹600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Worker ↔ repeater link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85C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ESP-NOW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Zigbee, LoRa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re-joining for a moving worker; no extra hardware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85C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steps + repeater fixes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UWB (DWM3000)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UWB ≈ ₹2,000 per tag and anchor; steps cost nothing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Kit identity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85C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PN532 NFC / ID card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UHF RFID portal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UHF reader ≈ ₹28,000; PN532 a few hundred rupees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Gas (prototype)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85C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MQ-4 / MQ-7 / MQ-136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electrochemical, NDIR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₹150–400 each; hub accepts certified sensors later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Regulator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85C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K7805 switcher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7805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linear 7805 would waste ≈ 11 W at 24 V input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Exit sign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85C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MAX7219 8×32 matrix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OLED, e-paper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bright in smoke and darkness; ₹250–350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093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6" type="title" hasCustomPrompt="1"/>
          </p:nvPr>
        </p:nvSpPr>
        <p:spPr>
          <a:xfrm>
            <a:off x="621792" y="914400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3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Validation: design and bench checks done, field tests next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411480" y="1645920"/>
            <a:ext cx="3666744" cy="777240"/>
          </a:xfrm>
          <a:prstGeom prst="roundRect">
            <a:avLst>
              <a:gd name="adj" fmla="val 7059"/>
            </a:avLst>
          </a:prstGeom>
          <a:solidFill>
            <a:srgbClr val="F4F1EA"/>
          </a:solidFill>
          <a:ln w="6350">
            <a:solidFill>
              <a:srgbClr val="F4F1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" y="1645920"/>
            <a:ext cx="73152" cy="777240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64592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/ 4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164592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checks passed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61104" y="1645920"/>
            <a:ext cx="3666744" cy="777240"/>
          </a:xfrm>
          <a:prstGeom prst="roundRect">
            <a:avLst>
              <a:gd name="adj" fmla="val 7059"/>
            </a:avLst>
          </a:prstGeom>
          <a:solidFill>
            <a:srgbClr val="F4F1EA"/>
          </a:solidFill>
          <a:ln w="6350">
            <a:solidFill>
              <a:srgbClr val="F4F1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261104" y="1645920"/>
            <a:ext cx="73152" cy="777240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9704" y="164592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/ 6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5678424" y="164592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tests passed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110728" y="1645920"/>
            <a:ext cx="3666744" cy="777240"/>
          </a:xfrm>
          <a:prstGeom prst="roundRect">
            <a:avLst>
              <a:gd name="adj" fmla="val 7059"/>
            </a:avLst>
          </a:prstGeom>
          <a:solidFill>
            <a:srgbClr val="F4F1EA"/>
          </a:solidFill>
          <a:ln w="6350">
            <a:solidFill>
              <a:srgbClr val="F4F1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110728" y="1645920"/>
            <a:ext cx="73152" cy="777240"/>
          </a:xfrm>
          <a:prstGeom prst="rect">
            <a:avLst/>
          </a:prstGeom>
          <a:solidFill>
            <a:srgbClr val="E8710A"/>
          </a:solidFill>
          <a:ln w="12700">
            <a:solidFill>
              <a:srgbClr val="E871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39328" y="164592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71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9528048" y="164592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tests with numeric pass criteria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606040"/>
          <a:ext cx="11365992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566160"/>
                <a:gridCol w="3291840"/>
                <a:gridCol w="1856232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8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8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 criterion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8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8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PCB electrical rules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5B6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KiCad DRC, 5 boards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unconnected pads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5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Enclosure fit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5B6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 collision check, 5 cases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collisions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5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Repeater chain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5B6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repeaters, any power-up order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forms by itself, 3 /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5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Gas + local buzzer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5B6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MQ sensor + gas source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alarm at the set limit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5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Distance accuracy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5B6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m corridor, 5 walkers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 ≤ 5 %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progress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710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 latency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5B6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3-hop chain, 50 trials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3 s for 95 %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949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 detection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5B6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staged falls + 1 h normal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90 %, ≤ 1 false / 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949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 / shock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5B66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hose 30 min, 1 m drop, 45 °C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water, no reset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91440" marT="0" marB="0" anchor="ctr">
                    <a:lnL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1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949C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093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6" type="title" hasCustomPrompt="1"/>
          </p:nvPr>
        </p:nvSpPr>
        <p:spPr>
          <a:xfrm>
            <a:off x="621792" y="914400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3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Affordable for small mines: checked, located, reachable</a:t>
            </a:r>
            <a:endParaRPr lang="en-US" sz="25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11480" y="1600200"/>
          <a:ext cx="51206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5806440" y="1691640"/>
            <a:ext cx="5971032" cy="914400"/>
          </a:xfrm>
          <a:prstGeom prst="roundRect">
            <a:avLst>
              <a:gd name="adj" fmla="val 6000"/>
            </a:avLst>
          </a:prstGeom>
          <a:solidFill>
            <a:srgbClr val="F4F1EA"/>
          </a:solidFill>
          <a:ln w="6350">
            <a:solidFill>
              <a:srgbClr val="F4F1E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035040" y="16916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5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₹6,862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8412480" y="169164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repeater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806440" y="2743200"/>
            <a:ext cx="5971032" cy="914400"/>
          </a:xfrm>
          <a:prstGeom prst="roundRect">
            <a:avLst>
              <a:gd name="adj" fmla="val 6000"/>
            </a:avLst>
          </a:prstGeom>
          <a:solidFill>
            <a:srgbClr val="F4F1EA"/>
          </a:solidFill>
          <a:ln w="6350">
            <a:solidFill>
              <a:srgbClr val="F4F1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03504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5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₹12,800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274320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smart suit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806440" y="3794760"/>
            <a:ext cx="5971032" cy="914400"/>
          </a:xfrm>
          <a:prstGeom prst="roundRect">
            <a:avLst>
              <a:gd name="adj" fmla="val 6000"/>
            </a:avLst>
          </a:prstGeom>
          <a:solidFill>
            <a:srgbClr val="FFF6DB"/>
          </a:solidFill>
          <a:ln w="15875">
            <a:solidFill>
              <a:srgbClr val="F2A9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035040" y="37947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5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₹3.26 L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8412480" y="379476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site: 10 repeaters + 20 suits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806440" y="4846320"/>
            <a:ext cx="5971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commercial system: enterprise quote only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11480" y="5257800"/>
            <a:ext cx="1645920" cy="822960"/>
          </a:xfrm>
          <a:prstGeom prst="rect">
            <a:avLst/>
          </a:prstGeom>
          <a:solidFill>
            <a:srgbClr val="4C9F38"/>
          </a:solidFill>
          <a:ln w="12700">
            <a:solidFill>
              <a:srgbClr val="4C9F3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11480" y="525780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3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health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194560" y="5257800"/>
            <a:ext cx="1645920" cy="822960"/>
          </a:xfrm>
          <a:prstGeom prst="rect">
            <a:avLst/>
          </a:prstGeom>
          <a:solidFill>
            <a:srgbClr val="A21942"/>
          </a:solidFill>
          <a:ln w="12700">
            <a:solidFill>
              <a:srgbClr val="A2194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194560" y="525780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8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Decent work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3977640" y="5257800"/>
            <a:ext cx="1645920" cy="822960"/>
          </a:xfrm>
          <a:prstGeom prst="rect">
            <a:avLst/>
          </a:prstGeom>
          <a:solidFill>
            <a:srgbClr val="FD6925"/>
          </a:solidFill>
          <a:ln w="12700">
            <a:solidFill>
              <a:srgbClr val="FD692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977640" y="525780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9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Industry, innovation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5806440" y="52578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300" dirty="0">
                <a:solidFill>
                  <a:srgbClr val="1B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backbone · certified gas sensors · intrinsic-safety design · field trial with a mine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0058400" y="5257800"/>
            <a:ext cx="17190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B85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093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neSafe Avishkar">
  <a:themeElements>
    <a:clrScheme name="MineSafe Avishkar">
      <a:dk1>
        <a:srgbClr val="1B2329"/>
      </a:dk1>
      <a:lt1>
        <a:srgbClr val="FFFFFF"/>
      </a:lt1>
      <a:dk2>
        <a:srgbClr val="2C3840"/>
      </a:dk2>
      <a:lt2>
        <a:srgbClr val="F4F1EA"/>
      </a:lt2>
      <a:accent1>
        <a:srgbClr val="F2A900"/>
      </a:accent1>
      <a:accent2>
        <a:srgbClr val="E8710A"/>
      </a:accent2>
      <a:accent3>
        <a:srgbClr val="2E8B57"/>
      </a:accent3>
      <a:accent4>
        <a:srgbClr val="2F5F9E"/>
      </a:accent4>
      <a:accent5>
        <a:srgbClr val="8A949C"/>
      </a:accent5>
      <a:accent6>
        <a:srgbClr val="C8102E"/>
      </a:accent6>
      <a:hlink>
        <a:srgbClr val="2F5F9E"/>
      </a:hlink>
      <a:folHlink>
        <a:srgbClr val="1F7A6D"/>
      </a:folHlink>
    </a:clrScheme>
    <a:fontScheme name="MineSafe Avishka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MineSafe</dc:title>
  <dc:subject>PptxGenJS Presentation</dc:subject>
  <dc:creator>PptxGenJS</dc:creator>
  <cp:lastModifiedBy>PptxGenJS</cp:lastModifiedBy>
  <cp:revision>1</cp:revision>
  <dcterms:created xsi:type="dcterms:W3CDTF">2026-10-26T01:31:42Z</dcterms:created>
  <dcterms:modified xsi:type="dcterms:W3CDTF">2026-10-26T01:31:42Z</dcterms:modified>
</cp:coreProperties>
</file>