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3F0E8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F3F0E8"/>
                </a:solidFill>
                <a:latin typeface="+mn-lt"/>
              </a:rPr>
              <a:t>Hours on one charge (shift = 12 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Battery life (h)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3F0E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Repeater backup</c:v>
                  </c:pt>
                  <c:pt idx="1">
                    <c:v>Core pod</c:v>
                  </c:pt>
                  <c:pt idx="2">
                    <c:v>Helmet pod*</c:v>
                  </c:pt>
                  <c:pt idx="3">
                    <c:v>Boot pod*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21</c:v>
                </c:pt>
                <c:pt idx="2">
                  <c:v>56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3F0E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3F0E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E3A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7B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0:00–0:15. Slot number only — do not say your name or college. First-slide fields must match Annexure 2 of the MU Aavishkar rules; adjust if your coordinator gives a different format. The suit on the right is a live 3D model: click and drag to turn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0:15–0:50. Source: Ministry of Mines data (ETV Bharat, Aug 2026). Every rescue shows the same gap: no last known position, no vitals, no way to tell each worker which way to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0:50–1:20. Nine commercial products checked (July 2026). Do not claim to beat Leantegra on positioning — the point is the integration and the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1:20–1:50. Walk the arrows left to right, then the dashed return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1:50–2:20. Integrating acceleration drifts ~175 m a minute — that is why we count steps and reset at every repeater. V4 adds a foot IMU that measures each real stride.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2:20–2:50. Every hardware decision starts from a mine condition. The suit is never locked — removal is detected, never prevented.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2:50–3:30. Turn the 3D model to show the CH4 chimney on top and the downward-facing ports. Same board runs as main repeater or tunnel repeater.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3:30–4:00. Point at the power path: mine supply and battery OR-ed by diodes, so a power cut never resets the repeater.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4:00–4:30. Turn the suit to show the helmet pod at the back and the boot pod on the right heel. Helmet and boot talk to the core over ESP-NOW; only the cuff is wired.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4:30–4:50. Lids shown lifted so the board, battery and modules are visible. Every case was fit-checked in CAD against its real KiCad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4:50–5:15. Repeater: ≈ 3.7 W, mostly the three gas-sensor heaters. Core pod: ≈ 112 mA at 3.3 V → ≈ 21 h from 3000 mAh.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5:15–5:50. Be honest: V3 is in field calibration. Each field test has a numeric pass criterion; results are logged with screenshots and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5:50–6:30. End on cost and impact (20 of 100 marks are economic efficiency and social relevance). Stop by 6:45 — over 7:15 disqualifies.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TITLE">
    <p:bg>
      <p:bgPr>
        <a:solidFill>
          <a:srgbClr val="12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CONTENT">
    <p:bg>
      <p:bgPr>
        <a:solidFill>
          <a:srgbClr val="12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MineSafe · Avishkar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microsoft.com/office/2017/06/relationships/model3d" Target="../media/model3d1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Relationship Id="rId4" Type="http://schemas.microsoft.com/office/2017/06/relationships/model3d" Target="../media/model3d6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Relationship Id="rId9" Type="http://schemas.microsoft.com/office/2017/06/relationships/model3d" Target="../media/model3d7.glb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Relationship Id="rId7" Type="http://schemas.microsoft.com/office/2017/06/relationships/model3d" Target="../media/model3d2.glb"/><Relationship Id="rId8" Type="http://schemas.microsoft.com/office/2017/06/relationships/model3d" Target="../media/model3d3.glb"/><Relationship Id="rId9" Type="http://schemas.microsoft.com/office/2017/06/relationships/model3d" Target="../media/model3d4.glb"/><Relationship Id="rId10" Type="http://schemas.microsoft.com/office/2017/06/relationships/model3d" Target="../media/model3d5.glb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MineSafe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Safety Gear Compliance, Health Monitoring and Navigation System for Underground Miners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34340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5262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No.:  </a:t>
            </a:r>
            <a:pPr indent="0" marL="0">
              <a:buNone/>
            </a:pPr>
            <a:r>
              <a:rPr lang="en-US" sz="20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0292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 </a:t>
            </a:r>
            <a:pPr indent="0" marL="0">
              <a:buNone/>
            </a:pPr>
            <a:r>
              <a:rPr lang="en-US" sz="18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and Technology · UG</a:t>
            </a:r>
            <a:endParaRPr lang="en-US" sz="18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Smart Suit" descr="3D model: Smart Suit - drag to rotate">
                <a:extLst>
                  <a:ext uri="{FF2B5EF4-FFF2-40B4-BE49-F238E27FC236}">
                    <a16:creationId xmlns:a16="http://schemas.microsoft.com/office/drawing/2014/main" id="{0AF66DC4-22B8-4FFB-A82D-E04407133C9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63840" y="320040"/>
              <a:ext cx="3840480" cy="621792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840480" cy="6217920"/>
                    </a:xfrm>
                    <a:prstGeom prst="rect">
                      <a:avLst/>
                    </a:prstGeom>
                  </am3d:spPr>
                  <am3d:camera>
                    <am3d:pos x="0" y="0" z="5134224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5" d="1000000"/>
                    <am3d:preTrans dx="374781" dy="-17616604" dz="-1562401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0" az="0"/>
                    <am3d:postTrans dx="0" dy="0" dz="0"/>
                  </am3d:trans>
                  <am3d:raster rName="Office3DRenderer" rVer="16.0.8326">
                    <am3d:blip r:embed="rId1"/>
                  </am3d:raster>
                  <am3d:objViewport viewportSz="6217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Render smart_suit" descr="3D model: smart suit (rotate with the mouse)">    </p:cNvPr>
              <p:cNvPicPr>
                <a:picLocks noChangeAspect="1"/>
              </p:cNvPicPr>
              <p:nvPr/>
            </p:nvPicPr>
            <p:blipFill>
              <a:blip r:embed="rId1"/>
              <a:srcRect l="0" r="0" t="0" b="0"/>
              <a:stretch/>
            </p:blipFill>
            <p:spPr>
              <a:xfrm>
                <a:off x="7863840" y="320040"/>
                <a:ext cx="3840480" cy="621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Underground, nobody knows who is where or if they are alive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in Indian coal mines, 2023–25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accidents in the same period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55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532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or mobile signal underground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7315200" cy="950976"/>
          </a:xfrm>
          <a:prstGeom prst="roundRect">
            <a:avLst>
              <a:gd name="adj" fmla="val 7692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910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SLBC tunnel, Telangana · 2025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975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trapped — radar needed to find them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2578608"/>
            <a:ext cx="7315200" cy="950976"/>
          </a:xfrm>
          <a:prstGeom prst="roundRect">
            <a:avLst>
              <a:gd name="adj" fmla="val 7692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7066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Umrangso, Assam · 2025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0906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flooded mine, 150+ hour search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97680" y="3694176"/>
            <a:ext cx="7315200" cy="950976"/>
          </a:xfrm>
          <a:prstGeom prst="roundRect">
            <a:avLst>
              <a:gd name="adj" fmla="val 7692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822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Kolihan, Rajasthan · 2024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cage rope snapped, 15 trapped, 1 died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97680" y="4809744"/>
            <a:ext cx="7315200" cy="950976"/>
          </a:xfrm>
          <a:prstGeom prst="roundRect">
            <a:avLst>
              <a:gd name="adj" fmla="val 7692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4937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Ksan, Meghalaya · 2018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3218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trapped, about 80-day search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kit checks at the gate · no health monitoring · gas measured at a few points · evacuation by siren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 combines kit check, vitals and GPS-free location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34440"/>
                <a:gridCol w="1143000"/>
                <a:gridCol w="1234440"/>
                <a:gridCol w="1874520"/>
                <a:gridCol w="960120"/>
                <a:gridCol w="16002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 alert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GPS-free location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Teknovate MineGuard 360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MineARC GuardIAN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Leantegra (UWB)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Rajant Health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EasyM2M SmartKavach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36Zero + Bodytrak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B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55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MineSafe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₹6.9k / ₹12.8k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new:  </a:t>
            </a:r>
            <a:pPr indent="0" marL="0">
              <a:buNone/>
            </a:pPr>
            <a:r>
              <a:rPr lang="en-US" sz="16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network · location without GPS or new infrastructure · repeaters that are also exit signs · a suit that checks the kit all shift · enterprise features at small-mine prices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self-healing network from the gate to the control room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3A3214"/>
          </a:solidFill>
          <a:ln w="254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64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suit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helmet, cuff and boot pods — vitals, fall, kit, steps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29000" y="16002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62B"/>
          </a:solidFill>
          <a:ln w="12700">
            <a:solidFill>
              <a:srgbClr val="3A46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7647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REP-03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48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· air · exit sign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49240" y="16002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62B"/>
          </a:solidFill>
          <a:ln w="12700">
            <a:solidFill>
              <a:srgbClr val="3A46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17647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REP-02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148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· air · exit sign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16002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62B"/>
          </a:solidFill>
          <a:ln w="12700">
            <a:solidFill>
              <a:srgbClr val="3A46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17647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REP-01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148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repeater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72600" y="1600200"/>
            <a:ext cx="2240280" cy="1371600"/>
          </a:xfrm>
          <a:prstGeom prst="roundRect">
            <a:avLst>
              <a:gd name="adj" fmla="val 6667"/>
            </a:avLst>
          </a:prstGeom>
          <a:solidFill>
            <a:srgbClr val="3A3214"/>
          </a:solidFill>
          <a:ln w="254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72600" y="17647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Control-room hub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2148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AI kit check · map · evacuation planner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834640" y="2286000"/>
            <a:ext cx="594360" cy="914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37760" y="2286000"/>
            <a:ext cx="411480" cy="914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58000" y="2286000"/>
            <a:ext cx="411480" cy="914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78240" y="2286000"/>
            <a:ext cx="594360" cy="914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2834640" y="3246120"/>
            <a:ext cx="6537960" cy="914"/>
          </a:xfrm>
          <a:prstGeom prst="line">
            <a:avLst/>
          </a:prstGeom>
          <a:noFill/>
          <a:ln w="25400">
            <a:solidFill>
              <a:srgbClr val="AEB7BE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29184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ESP-NOW, 1 packet / s, hop by hop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1920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3337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evacuation routes ride back down the chain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E262B"/>
          </a:solidFill>
          <a:ln w="12700">
            <a:solidFill>
              <a:srgbClr val="3A46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142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station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526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ID card + AI photo check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372600" y="397764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1E262B"/>
          </a:solidFill>
          <a:ln w="12700">
            <a:solidFill>
              <a:srgbClr val="3A46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72600" y="4142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control app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464040" y="4526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or phone, live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834640" y="4526280"/>
            <a:ext cx="6537960" cy="914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38912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 kit verdict and pairing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3038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440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GPS, no internet, no cabling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788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chain forms and heals by itself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97680" y="53492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3038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80560" y="5440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repeater measures gas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5788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 top, CO / H₂S bottom, air + wet-bulb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046720" y="53492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3038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5440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788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underground, where, and how they are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without GPS, evacuation without guesswork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90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steps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× step length along the gyro heading; pressure gives the level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to the tunnel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900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position is pulled onto the nearest tunnel on the mine map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67912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at repeaters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788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 (≥ −55 dBm) = next to that repeater: drift goes to zero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056632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83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around danger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3675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from all exits; tunnels in the hazard zone cost 1000×; each exit sign shows its arrow + distance</a:t>
            </a:r>
            <a:endParaRPr lang="en-US" sz="1350" dirty="0"/>
          </a:p>
        </p:txBody>
      </p:sp>
      <p:pic>
        <p:nvPicPr>
          <p:cNvPr id="19" name="Image 0" descr="3D control room during an evacu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463040"/>
            <a:ext cx="6263640" cy="391363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349240" y="548640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3D control room during an evacuation: routes go around the gas leak, exit signs update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dust, water, methane, heat and blasting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658368" cy="658368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37944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dust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IP65 gasket, drip hood, every opening faces down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55848" y="146304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84448" y="1691640"/>
            <a:ext cx="658368" cy="658368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83794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84448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rises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 port on top under a rain chimney; H₂S / CO ports at the bottom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63056" y="146304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91656" y="1691640"/>
            <a:ext cx="658368" cy="658368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3794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91656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 risk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sintered flame-arrestor seat at every gas port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970264" y="146304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98864" y="1691640"/>
            <a:ext cx="658368" cy="658368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183794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98864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30–45 °C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198864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sensor in its own chamber, away from heaters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84048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4069080"/>
            <a:ext cx="658368" cy="658368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215384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Blasting shock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212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bosses, latching connectors, rubber grommets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3355848" y="384048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584448" y="4069080"/>
            <a:ext cx="658368" cy="658368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752" y="4215384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84448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cuts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3584448" y="5212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supply + battery, switch-over with no reset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163056" y="384048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391656" y="4069080"/>
            <a:ext cx="658368" cy="658368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4215384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391656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and smoke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6391656" y="5212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exit signs, reflective hi-vis tape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8970264" y="384048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198864" y="4069080"/>
            <a:ext cx="658368" cy="658368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4215384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198864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gloves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9198864" y="5212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16–22 mm buttons, vibration and voice alerts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repeater is a radio relay, gas station and exit sign</a:t>
            </a:r>
            <a:endParaRPr lang="en-US" sz="30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Repeater Case" descr="3D model: Repeater Case - drag to rotate">
                <a:extLst>
                  <a:ext uri="{FF2B5EF4-FFF2-40B4-BE49-F238E27FC236}">
                    <a16:creationId xmlns:a16="http://schemas.microsoft.com/office/drawing/2014/main" id="{CC7A3A03-CC15-4AE4-8932-7E21F476618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8640" y="1280160"/>
              <a:ext cx="4846320" cy="502920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846320" cy="5029200"/>
                    </a:xfrm>
                    <a:prstGeom prst="rect">
                      <a:avLst/>
                    </a:prstGeom>
                  </am3d:spPr>
                  <am3d:camera>
                    <am3d:pos x="0" y="0" z="7112075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424" d="1000000"/>
                    <am3d:preTrans dx="3414588" dy="88266" dz="-6310835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0" az="0"/>
                    <am3d:postTrans dx="0" dy="0" dz="0"/>
                  </am3d:trans>
                  <am3d:raster rName="Office3DRenderer" rVer="16.0.8326">
                    <am3d:blip r:embed="rId1"/>
                  </am3d:raster>
                  <am3d:objViewport viewportSz="5029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Render repeater_case" descr="3D model: repeater case (rotate with the mouse)">    </p:cNvPr>
              <p:cNvPicPr>
                <a:picLocks noChangeAspect="1"/>
              </p:cNvPicPr>
              <p:nvPr/>
            </p:nvPicPr>
            <p:blipFill>
              <a:blip r:embed="rId1"/>
              <a:srcRect l="0" r="0" t="0" b="0"/>
              <a:stretch/>
            </p:blipFill>
            <p:spPr>
              <a:xfrm>
                <a:off x="548640" y="1280160"/>
                <a:ext cx="4846320" cy="50292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 1"/>
          <p:cNvSpPr txBox="1"/>
          <p:nvPr/>
        </p:nvSpPr>
        <p:spPr>
          <a:xfrm>
            <a:off x="548640" y="6035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 — click and drag to turn it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852160" y="1371600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554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4904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MQ-4 CH₄ (top) · MQ-7 CO · MQ-136 H₂S (bottom), alarms to Indian limits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852160" y="2176272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0" y="23591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29514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wet-bulb heat limit 30.5 / 33.5 °C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52160" y="2980944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31638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sign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30998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8×32 LED matrix: arrow + distance to the safe exit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52160" y="3785616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39684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39044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dB buzzer works even if the control room is down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852160" y="4590288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477316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9–30 V mine supply or battery, ≈ 3.7 W, ≈ 7 h backup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35040" y="55778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55138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 × 292 × 118 mm, IP65 target, rock-bolt / chain mount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own PCBs: 100 % routed, 0 design-rule errors</a:t>
            </a:r>
            <a:endParaRPr lang="en-US" sz="3000" dirty="0"/>
          </a:p>
        </p:txBody>
      </p:sp>
      <p:pic>
        <p:nvPicPr>
          <p:cNvPr id="3" name="Image 0" descr="Repeater PCB schema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474720"/>
          </a:xfrm>
          <a:prstGeom prst="rect">
            <a:avLst/>
          </a:prstGeom>
        </p:spPr>
      </p:pic>
      <p:pic>
        <p:nvPicPr>
          <p:cNvPr id="4" name="Image 1" descr="Repeater PCB top ren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880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892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 schematic and board (100 × 75 mm)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48640" y="53035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3038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5394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2-layer, through-hole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7424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hand-solderable, modules on sockets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297680" y="53035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3038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80560" y="5394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Diode-OR power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480560" y="57424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+ TVS + 5 V / 2 A switcher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53035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3038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0" y="5394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boards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57424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66 × 54 · cuff 46 × 42 · helmet 44 × 48 · boot 34 × 42 mm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772400" y="4343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7 + Freerouting, generated by our own script: place, route, ground pour, DRC, Gerbers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 smart suit: the kit checks itself all shift</a:t>
            </a:r>
            <a:endParaRPr lang="en-US" sz="30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Smart Suit" descr="3D model: Smart Suit - drag to rotate">
                <a:extLst>
                  <a:ext uri="{FF2B5EF4-FFF2-40B4-BE49-F238E27FC236}">
                    <a16:creationId xmlns:a16="http://schemas.microsoft.com/office/drawing/2014/main" id="{DF739FC2-CD00-4325-9930-C98E46A187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8640" y="1234440"/>
              <a:ext cx="3291840" cy="5120640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291840" cy="5120640"/>
                    </a:xfrm>
                    <a:prstGeom prst="rect">
                      <a:avLst/>
                    </a:prstGeom>
                  </am3d:spPr>
                  <am3d:camera>
                    <am3d:pos x="0" y="0" z="5134224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5" d="1000000"/>
                    <am3d:preTrans dx="374781" dy="-17616604" dz="-1562401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0" az="0"/>
                    <am3d:postTrans dx="0" dy="0" dz="0"/>
                  </am3d:trans>
                  <am3d:raster rName="Office3DRenderer" rVer="16.0.8326">
                    <am3d:blip r:embed="rId1"/>
                  </am3d:raster>
                  <am3d:objViewport viewportSz="5120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Render smart_suit" descr="3D model: smart suit (rotate with the mouse)">    </p:cNvPr>
              <p:cNvPicPr>
                <a:picLocks noChangeAspect="1"/>
              </p:cNvPicPr>
              <p:nvPr/>
            </p:nvPicPr>
            <p:blipFill>
              <a:blip r:embed="rId1"/>
              <a:srcRect l="0" r="0" t="0" b="0"/>
              <a:stretch/>
            </p:blipFill>
            <p:spPr>
              <a:xfrm>
                <a:off x="548640" y="1234440"/>
                <a:ext cx="3291840" cy="51206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hape 1"/>
          <p:cNvSpPr/>
          <p:nvPr/>
        </p:nvSpPr>
        <p:spPr>
          <a:xfrm>
            <a:off x="4206240" y="1399032"/>
            <a:ext cx="603504" cy="603504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545336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0" y="13441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pod · chest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5029200" y="17099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ESP32-C6, 3000 mAh, motion + pressure, guarded SOS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4206240" y="2313432"/>
            <a:ext cx="603504" cy="603504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2459736"/>
            <a:ext cx="310896" cy="3108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0" y="22585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pod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5029200" y="26243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at head height, voice alerts, helmet-on switch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4206240" y="3227832"/>
            <a:ext cx="603504" cy="603504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3374136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029200" y="31729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cuff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5029200" y="35387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screen, 3 glove buttons, vibration, heart rate + SpO₂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4206240" y="4142232"/>
            <a:ext cx="603504" cy="603504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4288536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029200" y="40873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pod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5029200" y="44531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IMU measures each real stride, heel force sensor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4206240" y="5056632"/>
            <a:ext cx="603504" cy="603504"/>
          </a:xfrm>
          <a:prstGeom prst="ellipse">
            <a:avLst/>
          </a:prstGeom>
          <a:solidFill>
            <a:srgbClr val="3A3214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544" y="520293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029200" y="50017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Seams and zip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5029200" y="53675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conductive thread + zip switch: torn or opened = alert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4206240" y="5897880"/>
            <a:ext cx="7406640" cy="457200"/>
          </a:xfrm>
          <a:prstGeom prst="roundRect">
            <a:avLst>
              <a:gd name="adj" fmla="val 16000"/>
            </a:avLst>
          </a:prstGeom>
          <a:solidFill>
            <a:srgbClr val="3A3214"/>
          </a:solidFill>
          <a:ln w="12700">
            <a:solidFill>
              <a:srgbClr val="3A3214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4389120" y="5943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locked: removal or a tear is detected and reported, never prevented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pods, each designed around its own 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24328" cy="4754880"/>
          </a:xfrm>
          <a:prstGeom prst="roundRect">
            <a:avLst>
              <a:gd name="adj" fmla="val 2787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Pod Core" descr="3D model: Pod Core - drag to rotate">
                <a:extLst>
                  <a:ext uri="{FF2B5EF4-FFF2-40B4-BE49-F238E27FC236}">
                    <a16:creationId xmlns:a16="http://schemas.microsoft.com/office/drawing/2014/main" id="{EE33FC1D-4AEF-4F4D-A85C-1F7666E955C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0080" y="1463040"/>
              <a:ext cx="2441448" cy="356616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2441448" cy="3566160"/>
                    </a:xfrm>
                    <a:prstGeom prst="rect">
                      <a:avLst/>
                    </a:prstGeom>
                  </am3d:spPr>
                  <am3d:camera>
                    <am3d:pos x="0" y="0" z="7474940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84" d="1000000"/>
                    <am3d:preTrans dx="3464473" dy="-4471965" dz="-10116862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0" az="0"/>
                    <am3d:postTrans dx="0" dy="0" dz="0"/>
                  </am3d:trans>
                  <am3d:raster rName="Office3DRenderer" rVer="16.0.8326">
                    <am3d:blip r:embed="rId1"/>
                  </am3d:raster>
                  <am3d:objViewport viewportSz="35661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Render pod_core" descr="3D model: pod core (rotate with the mouse)">    </p:cNvPr>
              <p:cNvPicPr>
                <a:picLocks noChangeAspect="1"/>
              </p:cNvPicPr>
              <p:nvPr/>
            </p:nvPicPr>
            <p:blipFill>
              <a:blip r:embed="rId1"/>
              <a:srcRect l="0" r="0" t="0" b="0"/>
              <a:stretch/>
            </p:blipFill>
            <p:spPr>
              <a:xfrm>
                <a:off x="640080" y="1463040"/>
                <a:ext cx="2441448" cy="35661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2"/>
          <p:cNvSpPr txBox="1"/>
          <p:nvPr/>
        </p:nvSpPr>
        <p:spPr>
          <a:xfrm>
            <a:off x="73152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504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× 93 × 44 mm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24328" cy="4754880"/>
          </a:xfrm>
          <a:prstGeom prst="roundRect">
            <a:avLst>
              <a:gd name="adj" fmla="val 2787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Pod Cuff" descr="3D model: Pod Cuff - drag to rotate">
                <a:extLst>
                  <a:ext uri="{FF2B5EF4-FFF2-40B4-BE49-F238E27FC236}">
                    <a16:creationId xmlns:a16="http://schemas.microsoft.com/office/drawing/2014/main" id="{2F8729E7-4FB1-4436-94B6-6778129F443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47288" y="1463040"/>
              <a:ext cx="2441448" cy="3566160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2441448" cy="3566160"/>
                    </a:xfrm>
                    <a:prstGeom prst="rect">
                      <a:avLst/>
                    </a:prstGeom>
                  </am3d:spPr>
                  <am3d:camera>
                    <am3d:pos x="0" y="0" z="7496710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790" d="1000000"/>
                    <am3d:preTrans dx="3466807" dy="-4654190" dz="-10308771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35661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Render pod_cuff" descr="3D model: pod cuff (rotate with the mouse)">    </p:cNvPr>
              <p:cNvPicPr>
                <a:picLocks noChangeAspect="1"/>
              </p:cNvPicPr>
              <p:nvPr/>
            </p:nvPicPr>
            <p:blipFill>
              <a:blip r:embed="rId2"/>
              <a:srcRect l="0" r="0" t="0" b="0"/>
              <a:stretch/>
            </p:blipFill>
            <p:spPr>
              <a:xfrm>
                <a:off x="3447288" y="1463040"/>
                <a:ext cx="2441448" cy="35661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 5"/>
          <p:cNvSpPr txBox="1"/>
          <p:nvPr/>
        </p:nvSpPr>
        <p:spPr>
          <a:xfrm>
            <a:off x="3538728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cuff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538728" y="5504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× 75 × 27 mm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63056" y="1371600"/>
            <a:ext cx="2624328" cy="4754880"/>
          </a:xfrm>
          <a:prstGeom prst="roundRect">
            <a:avLst>
              <a:gd name="adj" fmla="val 2787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Pod Helmet" descr="3D model: Pod Helmet - drag to rotate">
                <a:extLst>
                  <a:ext uri="{FF2B5EF4-FFF2-40B4-BE49-F238E27FC236}">
                    <a16:creationId xmlns:a16="http://schemas.microsoft.com/office/drawing/2014/main" id="{13812F85-7E78-464A-A759-D3CCEEF161E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254496" y="1463040"/>
              <a:ext cx="2441448" cy="3566160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2441448" cy="3566160"/>
                    </a:xfrm>
                    <a:prstGeom prst="rect">
                      <a:avLst/>
                    </a:prstGeom>
                  </am3d:spPr>
                  <am3d:camera>
                    <am3d:pos x="0" y="0" z="7107980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10" d="1000000"/>
                    <am3d:preTrans dx="3475792" dy="-3261020" dz="-1165965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5661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Render pod_helmet" descr="3D model: pod helmet (rotate with the mouse)">    </p:cNvPr>
              <p:cNvPicPr>
                <a:picLocks noChangeAspect="1"/>
              </p:cNvPicPr>
              <p:nvPr/>
            </p:nvPicPr>
            <p:blipFill>
              <a:blip r:embed="rId3"/>
              <a:srcRect l="0" r="0" t="0" b="0"/>
              <a:stretch/>
            </p:blipFill>
            <p:spPr>
              <a:xfrm>
                <a:off x="6254496" y="1463040"/>
                <a:ext cx="2441448" cy="35661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 8"/>
          <p:cNvSpPr txBox="1"/>
          <p:nvPr/>
        </p:nvSpPr>
        <p:spPr>
          <a:xfrm>
            <a:off x="6345936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pod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345936" y="5504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× 66 × 31 mm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970264" y="1371600"/>
            <a:ext cx="2624328" cy="4754880"/>
          </a:xfrm>
          <a:prstGeom prst="roundRect">
            <a:avLst>
              <a:gd name="adj" fmla="val 2787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Pod Boot" descr="3D model: Pod Boot - drag to rotate">
                <a:extLst>
                  <a:ext uri="{FF2B5EF4-FFF2-40B4-BE49-F238E27FC236}">
                    <a16:creationId xmlns:a16="http://schemas.microsoft.com/office/drawing/2014/main" id="{E83C48DA-43B5-47F0-846E-6E8F38F58F7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061704" y="1463040"/>
              <a:ext cx="2441448" cy="3566160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2441448" cy="3566160"/>
                    </a:xfrm>
                    <a:prstGeom prst="rect">
                      <a:avLst/>
                    </a:prstGeom>
                  </am3d:spPr>
                  <am3d:camera>
                    <am3d:pos x="0" y="0" z="698149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93" d="1000000"/>
                    <am3d:preTrans dx="3580379" dy="-3282544" dz="-12209481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5661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Render pod_boot" descr="3D model: pod boot (rotate with the mouse)">    </p:cNvPr>
              <p:cNvPicPr>
                <a:picLocks noChangeAspect="1"/>
              </p:cNvPicPr>
              <p:nvPr/>
            </p:nvPicPr>
            <p:blipFill>
              <a:blip r:embed="rId4"/>
              <a:srcRect l="0" r="0" t="0" b="0"/>
              <a:stretch/>
            </p:blipFill>
            <p:spPr>
              <a:xfrm>
                <a:off x="9061704" y="1463040"/>
                <a:ext cx="2441448" cy="35661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 11"/>
          <p:cNvSpPr txBox="1"/>
          <p:nvPr/>
        </p:nvSpPr>
        <p:spPr>
          <a:xfrm>
            <a:off x="9153144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pod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9153144" y="5504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× 58 × 29 mm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budget: the core pod lasts almost two shifts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with the radio duty-cycled (V4 firmware). Datasheet estimates, to be confirmed by measurement.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766560" y="1371600"/>
            <a:ext cx="4846320" cy="786384"/>
          </a:xfrm>
          <a:prstGeom prst="roundRect">
            <a:avLst>
              <a:gd name="adj" fmla="val 9302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 (XIAO)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BLE, Zigbee + ESP-NOW on one 21 mm board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66560" y="2286000"/>
            <a:ext cx="4846320" cy="786384"/>
          </a:xfrm>
          <a:prstGeom prst="roundRect">
            <a:avLst>
              <a:gd name="adj" fmla="val 9302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ESP-NOW, not Zigbee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re-joining for a moving worker; LoRa later for long tunnels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3200400"/>
            <a:ext cx="4846320" cy="786384"/>
          </a:xfrm>
          <a:prstGeom prst="roundRect">
            <a:avLst>
              <a:gd name="adj" fmla="val 9302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counting, not UWB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UWB ≈ ₹2,000 per tag and anchor; steps cost nothing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766560" y="4114800"/>
            <a:ext cx="4846320" cy="786384"/>
          </a:xfrm>
          <a:prstGeom prst="roundRect">
            <a:avLst>
              <a:gd name="adj" fmla="val 9302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regulators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7805 would waste ≈ 11 W at 24 V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766560" y="5029200"/>
            <a:ext cx="4846320" cy="786384"/>
          </a:xfrm>
          <a:prstGeom prst="roundRect">
            <a:avLst>
              <a:gd name="adj" fmla="val 9302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on repeaters only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heaters use 150 mA — wrong for a battery wearable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in steps: design and bench done, field tests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checks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4FB07E"/>
          </a:solidFill>
          <a:ln w="12700">
            <a:solidFill>
              <a:srgbClr val="4FB0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 passed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DRC: 0 unconnected pads (5 boards)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fit check: no collisions (5 cases)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budget: core pod 21 h ≥ 12 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levels: ADC and 5 V logic in range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tests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4FB07E"/>
          </a:solidFill>
          <a:ln w="12700">
            <a:solidFill>
              <a:srgbClr val="4FB0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 passed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0604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 chain forms by itself (3/3)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sensing logged (31.3 °C, 62 % RH)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alarm + local buzzer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logic + robustness with simulator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sensors: wiring being fixed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tests (pass criteria)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75320" y="201168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0604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to deepest worker ≤ 3 s (95 %)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error ≤ 5 % over 100 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detected ≥ 90 %, ≤ 1 false / 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± 5 bpm, SpO₂ ± 3 % vs oximeter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Hose test 30 min, 1 m drop, 24 h at 45 °C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Affordable for small mines: checked, located, reachable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₹6,860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repeater (PCB + mine case)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₹12,800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smart suit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₹3.3 L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10 repeaters + 20 suits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14630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AE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commercial system: enterprise quote only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32918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rescue with a last known position; falls, gas and heat caught as they happen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41605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Good health · 8 Decent work · 9 Industry and innovation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62B"/>
          </a:solidFill>
          <a:ln w="12700">
            <a:solidFill>
              <a:srgbClr val="1E26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50292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backbone · certified NDIR / electrochemical gas sensors · intrinsic-safety design · field trial with a mine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7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eSafe Underground">
  <a:themeElements>
    <a:clrScheme name="MineSafe Underground">
      <a:dk1>
        <a:srgbClr val="12171A"/>
      </a:dk1>
      <a:lt1>
        <a:srgbClr val="FFFFFF"/>
      </a:lt1>
      <a:dk2>
        <a:srgbClr val="1E262B"/>
      </a:dk2>
      <a:lt2>
        <a:srgbClr val="F3F0E8"/>
      </a:lt2>
      <a:accent1>
        <a:srgbClr val="F2A900"/>
      </a:accent1>
      <a:accent2>
        <a:srgbClr val="D93025"/>
      </a:accent2>
      <a:accent3>
        <a:srgbClr val="3C8C6A"/>
      </a:accent3>
      <a:accent4>
        <a:srgbClr val="4A6FA5"/>
      </a:accent4>
      <a:accent5>
        <a:srgbClr val="9AA5AE"/>
      </a:accent5>
      <a:accent6>
        <a:srgbClr val="E8710A"/>
      </a:accent6>
      <a:hlink>
        <a:srgbClr val="F2A900"/>
      </a:hlink>
      <a:folHlink>
        <a:srgbClr val="C9A24A"/>
      </a:folHlink>
    </a:clrScheme>
    <a:fontScheme name="MineSafe Undergrou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MineSafe</dc:title>
  <dc:subject>PptxGenJS Presentation</dc:subject>
  <dc:creator>PptxGenJS</dc:creator>
  <cp:lastModifiedBy>PptxGenJS</cp:lastModifiedBy>
  <cp:revision>1</cp:revision>
  <dcterms:created xsi:type="dcterms:W3CDTF">2026-10-25T04:23:24Z</dcterms:created>
  <dcterms:modified xsi:type="dcterms:W3CDTF">2026-10-25T04:23:24Z</dcterms:modified>
</cp:coreProperties>
</file>